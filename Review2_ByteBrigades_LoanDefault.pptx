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morning faculty. We are team Byte Brigades presenting Review 2 for CSI3010 Data Warehousing &amp; Data Mining. Our team members are Mahaprabhu K (24MID0109) and Pavithran O (24MID0144). Today we present the four core data mining components: Classification, Clustering, Association Rules, and Default Prediction.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 is the dataset profile. With 50,000 records, defaults represent only 11.7%. A naive model predicting zero defaults achieves 88% accuracy while failing completely. Hence our evaluation strictly prioritizes Recall, F1-Score, and ROC-AUC.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 is the training code and test set benchmark. Logistic regression provides high recall but generates too many false alarms (57% precision). Gradient Boosting achieved 97.11% precision and 83.25% recall, with a champion F1-score of 0.8965 and 0.9973 ROC-AUC.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pictorial diagnostics show our four models. The confusion matrix heatmaps show Gradient Boosting maintains minimal false positives. The ROC curves confirm near-optimal probability separation across all decision thresholds.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 is our clustering implementation. We standardized 5 core financial features and ran K-Means across K=2 to 6. The Elbow plot exhibits an inflection point at K=3, creating three distinct risk archetypes.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 are the mined borrower profiles alongside the 2D PCA projection. Cluster 2 represents Prime borrowers with a default rate of only 3.93%. Cluster 0 isolates vulnerable borrowers where default reaches 20.36%.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 apply the Apriori algorithm, continuous numerical features were converted to categorical bins. We set a minimum support of 3% and confidence of 30%, filtering specifically for rules leading to Default=Yes. Lift indicates the multiplicative default risk increase above baseline.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 is the pictorial representation of our mined association rules. Rule 1 exhibits a Lift of 5.69x with 66.93% confidence when low income, poor credit, and large loan amount co-occur. Rule 3 shows that lacking a co-signer under high DTI drives default risk over 54%.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 is our prediction engine implementation. We transform borrower payloads and compute continuous probabilities P(Default=1). Our Brier score of 0.0168 confirms the probabilities are highly calibrated, enabling a clear 4-tier risk policy.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summary, all four required components of Review 2 are fully completed and verified. In Review 3 we will demonstrate the live interactive dashboard and real-time simulator. Thank you faculty, we are ready for your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00" b="1">
                <a:solidFill>
                  <a:srgbClr val="10B981"/>
                </a:solidFill>
              </a:defRPr>
            </a:pPr>
            <a:r>
              <a:t>COURSE: DATA WAREHOUSING AND DATA MINING  |  COURSE CODE: CSI3010</a:t>
            </a:r>
          </a:p>
          <a:p>
            <a:pPr>
              <a:spcAft>
                <a:spcPts val="1200"/>
              </a:spcAft>
              <a:defRPr sz="3400" b="1">
                <a:solidFill>
                  <a:srgbClr val="FFFFFF"/>
                </a:solidFill>
              </a:defRPr>
            </a:pPr>
            <a:r>
              <a:t>Loan Default Risk Prediction &amp;</a:t>
            </a:r>
            <a:br/>
            <a:r>
              <a:t>Borrower Profiling System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Academic Review - 2: Classification  •  Clustering  •  Association Rules  •  Prediction Engine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3931920"/>
            <a:ext cx="4937760" cy="2194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4069080"/>
            <a:ext cx="45720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10B981"/>
                </a:solidFill>
              </a:defRPr>
            </a:pPr>
            <a:r>
              <a:t>TEAM: BYTE BRIGADES</a:t>
            </a:r>
          </a:p>
          <a:p>
            <a:pPr>
              <a:spcAft>
                <a:spcPts val="400"/>
              </a:spcAft>
              <a:defRPr sz="1300" b="1">
                <a:solidFill>
                  <a:srgbClr val="FFFFFF"/>
                </a:solidFill>
              </a:defRPr>
            </a:pPr>
            <a:r>
              <a:t>• Mahaprabhu K  (24MID0109)</a:t>
            </a:r>
          </a:p>
          <a:p>
            <a:pPr>
              <a:spcAft>
                <a:spcPts val="400"/>
              </a:spcAft>
              <a:defRPr sz="1300" b="1">
                <a:solidFill>
                  <a:srgbClr val="FFFFFF"/>
                </a:solidFill>
              </a:defRPr>
            </a:pPr>
            <a:r>
              <a:t>• Pavithran O  (24MID0144)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3931920"/>
            <a:ext cx="5029200" cy="2194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4069080"/>
            <a:ext cx="46634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10B981"/>
                </a:solidFill>
              </a:defRPr>
            </a:pPr>
            <a:r>
              <a:t>PROJECT METADATA</a:t>
            </a:r>
          </a:p>
          <a:p>
            <a:pPr>
              <a:spcAft>
                <a:spcPts val="300"/>
              </a:spcAft>
              <a:defRPr sz="1100">
                <a:solidFill>
                  <a:srgbClr val="E2E8F0"/>
                </a:solidFill>
              </a:defRPr>
            </a:pPr>
            <a:r>
              <a:t>• Review Phase: Review - 2 (Data Mining &amp; Predictive Modeling)</a:t>
            </a:r>
          </a:p>
          <a:p>
            <a:pPr>
              <a:spcAft>
                <a:spcPts val="300"/>
              </a:spcAft>
              <a:defRPr sz="1100">
                <a:solidFill>
                  <a:srgbClr val="E2E8F0"/>
                </a:solidFill>
              </a:defRPr>
            </a:pPr>
            <a:r>
              <a:t>• Date of Presentation: 16/10/26</a:t>
            </a:r>
          </a:p>
          <a:p>
            <a:pPr>
              <a:spcAft>
                <a:spcPts val="300"/>
              </a:spcAft>
              <a:defRPr sz="1100">
                <a:solidFill>
                  <a:srgbClr val="E2E8F0"/>
                </a:solidFill>
              </a:defRPr>
            </a:pPr>
            <a:r>
              <a:t>• Dataset Parameters: 50,000 Records, 18 Features</a:t>
            </a:r>
          </a:p>
          <a:p>
            <a:pPr>
              <a:spcAft>
                <a:spcPts val="300"/>
              </a:spcAft>
              <a:defRPr sz="1100">
                <a:solidFill>
                  <a:srgbClr val="E2E8F0"/>
                </a:solidFill>
              </a:defRPr>
            </a:pPr>
            <a:r>
              <a:t>• Target Variable: Default (Binary 0 = No Default, 1 = Default)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"/>
            <a:ext cx="106984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CSI3010: DATA WAREHOUSING &amp; DATA MINING | REVIEW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Dataset Characteristics &amp; Review-2 Pipeline Scope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25603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280160"/>
            <a:ext cx="2286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2563EB"/>
                </a:solidFill>
              </a:defRPr>
            </a:pPr>
            <a:r>
              <a:t>1. Classification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Default vs. No-Default</a:t>
            </a:r>
            <a:br/>
            <a:r>
              <a:t>4 ML models benchmarked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56432" y="1188720"/>
            <a:ext cx="25603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3592" y="1280160"/>
            <a:ext cx="2286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10B981"/>
                </a:solidFill>
              </a:defRPr>
            </a:pPr>
            <a:r>
              <a:t>2. Clustering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Borrower Segmentation</a:t>
            </a:r>
            <a:br/>
            <a:r>
              <a:t>Optimal K=3 risk archetypes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1344" y="1188720"/>
            <a:ext cx="25603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18504" y="1280160"/>
            <a:ext cx="2286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D97706"/>
                </a:solidFill>
              </a:defRPr>
            </a:pPr>
            <a:r>
              <a:t>3. Association Rules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Apriori Co-occurrence</a:t>
            </a:r>
            <a:br/>
            <a:r>
              <a:t>Multi-feature risk rules (Lift &gt; 5x)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06256" y="1188720"/>
            <a:ext cx="25603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43416" y="1280160"/>
            <a:ext cx="2286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9333EA"/>
                </a:solidFill>
              </a:defRPr>
            </a:pPr>
            <a:r>
              <a:t>4. Prediction Engine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Continuous P(Default=1)</a:t>
            </a:r>
            <a:br/>
            <a:r>
              <a:t>Calibrated scoring &amp; risk tiers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560320"/>
            <a:ext cx="521208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697480"/>
            <a:ext cx="48463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F172A"/>
                </a:solidFill>
              </a:defRPr>
            </a:pPr>
            <a:r>
              <a:t>Dataset Profile &amp; Stratification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</a:defRPr>
            </a:pPr>
            <a:r>
              <a:t>• Total Records: 50,000 credit records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</a:defRPr>
            </a:pPr>
            <a:r>
              <a:t>• Feature Space: 18 attributes (Income, Credit Score, DTI, Loan Amount, etc.)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</a:defRPr>
            </a:pPr>
            <a:r>
              <a:t>• Train / Test Partition: 80% Train (40,000) / 20% Holdout Test (10,000)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</a:defRPr>
            </a:pPr>
            <a:r>
              <a:t>• Stratification: Maintains exact class proportions across splits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</a:defRPr>
            </a:pPr>
            <a:r>
              <a:t>• Leakage Prevention: StandardScaler &amp; OneHotEncoder fit strictly on training set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2560320"/>
            <a:ext cx="5242255" cy="384048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2697480"/>
            <a:ext cx="48463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BE123C"/>
                </a:solidFill>
              </a:defRPr>
            </a:pPr>
            <a:r>
              <a:t>Class Imbalance: The 'Accuracy Trap'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</a:defRPr>
            </a:pPr>
            <a:r>
              <a:t>• Non-Defaulters (Class 0): 88.3% (~44,150 applicants)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</a:defRPr>
            </a:pPr>
            <a:r>
              <a:t>• Defaulters (Class 1): 11.7% (~5,850 applicants)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</a:defRPr>
            </a:pPr>
            <a:r>
              <a:t>• The 'Accuracy Paradox': A naive zero-default prediction yields 88.3% accuracy but detects 0% of risky loans, causing extreme financial write-offs.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</a:defRPr>
            </a:pPr>
            <a:r>
              <a:t>• Evaluation Focus: Benchmarking prioritizes Recall (detecting defaulters), F1-Score (balanced harmonic mean), and ROC-AUC (threshold-independent).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"/>
            <a:ext cx="106984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CSI3010 | MODULE 1: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Topic 1: Classification — Concept &amp; Institutional Role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34440"/>
            <a:ext cx="5212080" cy="246888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48463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2563EB"/>
                </a:solidFill>
              </a:defRPr>
            </a:pPr>
            <a:r>
              <a:t>1. WHY We Used It (The Problem / Need)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</a:defRPr>
            </a:pPr>
            <a:r>
              <a:t>• Lending institutions suffer major capital write-offs when borrowers default on unpaid principal.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</a:defRPr>
            </a:pPr>
            <a:r>
              <a:t>• Lenders need an automated, objective mechanism to accurately classify applicants as creditworthy vs. default-prone.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</a:defRPr>
            </a:pPr>
            <a:r>
              <a:t>• Manual review is slow, subjective, and unable to scale across thousands of credit applications.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234440"/>
            <a:ext cx="5242255" cy="246888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4876495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0B981"/>
                </a:solidFill>
              </a:defRPr>
            </a:pPr>
            <a:r>
              <a:t>2. HOW We Used It (Methodology &amp; Pipeline)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</a:defRPr>
            </a:pPr>
            <a:r>
              <a:t>• Benchmarked 4 supervised algorithms: Logistic Regression, Decision Tree, Random Forest, Gradient Boosting.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</a:defRPr>
            </a:pPr>
            <a:r>
              <a:t>• Handled class imbalance (11.7% default) via class-weighting and optimized for Recall, F1-Score, and ROC-AUC.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</a:defRPr>
            </a:pPr>
            <a:r>
              <a:t>• Trained strictly on 80% split (40,000) and evaluated on 20% holdout test set (10,000) with zero data leakage.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886200"/>
            <a:ext cx="5212080" cy="2560320"/>
          </a:xfrm>
          <a:prstGeom prst="roundRect">
            <a:avLst/>
          </a:prstGeom>
          <a:solidFill>
            <a:srgbClr val="FEF9C3"/>
          </a:solidFill>
          <a:ln w="12700">
            <a:solidFill>
              <a:srgbClr val="CA8A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023360"/>
            <a:ext cx="4846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CA8A04"/>
                </a:solidFill>
              </a:defRPr>
            </a:pPr>
            <a:r>
              <a:t>3. WHAT It Does in Our Project (System Role)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</a:defRPr>
            </a:pPr>
            <a:r>
              <a:t>• Learns non-linear financial patterns separating non-defaulters from defaulters.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</a:defRPr>
            </a:pPr>
            <a:r>
              <a:t>• Identifies the champion model (Gradient Boosting) achieving 97.75% accuracy and 0.8965 F1-Score.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</a:defRPr>
            </a:pPr>
            <a:r>
              <a:t>• Exports the champion model into prediction/saved_models/best_classifier.joblib for production scoring.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886200"/>
            <a:ext cx="5242255" cy="2560320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4023360"/>
            <a:ext cx="487649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9333EA"/>
                </a:solidFill>
              </a:defRPr>
            </a:pPr>
            <a:r>
              <a:t>4. PRACTICAL USE (Underwriting &amp; Business Value)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</a:defRPr>
            </a:pPr>
            <a:r>
              <a:t>• Automated Underwriting: Instantly approves prime applicants and screens out high-risk applicants.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</a:defRPr>
            </a:pPr>
            <a:r>
              <a:t>• Loss Prevention: Drastically slashes Non-Performing Assets (NPAs) while preserving 97.11% precision.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</a:defRPr>
            </a:pPr>
            <a:r>
              <a:t>• Regulatory Compliance: Provides objective, auditable classification standards for credit assessment.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"/>
            <a:ext cx="106984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CSI3010: DATA WAREHOUSING &amp; DATA MINING | REVIEW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Classification: Algorithm Implementation &amp; Benchmark Results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34440"/>
            <a:ext cx="4389120" cy="51206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44168"/>
            <a:ext cx="4023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⚙  train_classifiers.py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4023360" cy="4617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Consolas"/>
              </a:defRPr>
            </a:pPr>
            <a:r>
              <a:t># classification/train_classifiers.py</a:t>
            </a:r>
          </a:p>
          <a:p>
            <a:pPr>
              <a:defRPr sz="850">
                <a:solidFill>
                  <a:srgbClr val="93C5FD"/>
                </a:solidFill>
                <a:latin typeface="Consolas"/>
              </a:defRPr>
            </a:pPr>
            <a:r>
              <a:t>from sklearn.ensemble import GradientBoostingClassifier</a:t>
            </a:r>
          </a:p>
          <a:p>
            <a:pPr>
              <a:defRPr sz="850">
                <a:solidFill>
                  <a:srgbClr val="93C5FD"/>
                </a:solidFill>
                <a:latin typeface="Consolas"/>
              </a:defRPr>
            </a:pPr>
            <a:r>
              <a:t>from sklearn.metrics import f1_score, roc_auc_score</a:t>
            </a: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  <a:r>
              <a:t>models = {</a:t>
            </a: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  <a:r>
              <a:t>  'Logistic Regression': LogisticRegression(class_weight='balanced'),</a:t>
            </a:r>
          </a:p>
          <a:p>
            <a:pPr>
              <a:defRPr sz="850">
                <a:solidFill>
                  <a:srgbClr val="6EE7B7"/>
                </a:solidFill>
                <a:latin typeface="Consolas"/>
              </a:defRPr>
            </a:pPr>
            <a:r>
              <a:t>  'Decision Tree': DecisionTreeClassifier(max_depth=8),</a:t>
            </a:r>
          </a:p>
          <a:p>
            <a:pPr>
              <a:defRPr sz="850">
                <a:solidFill>
                  <a:srgbClr val="6EE7B7"/>
                </a:solidFill>
                <a:latin typeface="Consolas"/>
              </a:defRPr>
            </a:pPr>
            <a:r>
              <a:t>  'Random Forest': RandomForestClassifier(n_estimators=100),</a:t>
            </a:r>
          </a:p>
          <a:p>
            <a:pPr>
              <a:defRPr sz="850">
                <a:solidFill>
                  <a:srgbClr val="6EE7B7"/>
                </a:solidFill>
                <a:latin typeface="Consolas"/>
              </a:defRPr>
            </a:pPr>
            <a:r>
              <a:t>  'Gradient Boosting': GradientBoostingClassifier(max_depth=5, lr=0.1)</a:t>
            </a: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  <a:r>
              <a:t>}</a:t>
            </a:r>
          </a:p>
          <a:p>
            <a:pPr>
              <a:defRPr sz="850">
                <a:solidFill>
                  <a:srgbClr val="93C5FD"/>
                </a:solidFill>
                <a:latin typeface="Consolas"/>
              </a:defRPr>
            </a:pPr>
            <a:r>
              <a:t>for name, model in models.items():</a:t>
            </a: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  <a:r>
              <a:t>    model.fit(X_train, y_train)</a:t>
            </a: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  <a:r>
              <a:t>    y_prob = model.predict_proba(X_test)[:, 1]</a:t>
            </a: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  <a:r>
              <a:t>    f1 = f1_score(y_test, model.predict(X_test))</a:t>
            </a: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  <a:r>
              <a:t>    auc = roc_auc_score(y_test, y_prob)</a:t>
            </a: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  <a:r>
              <a:t>joblib.dump(best_model, 'best_classifier.joblib')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0" y="1234440"/>
            <a:ext cx="6156655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40680" y="1371600"/>
          <a:ext cx="5882335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0333"/>
                <a:gridCol w="840333"/>
                <a:gridCol w="840333"/>
                <a:gridCol w="840333"/>
                <a:gridCol w="840333"/>
                <a:gridCol w="840333"/>
                <a:gridCol w="840337"/>
              </a:tblGrid>
              <a:tr h="713232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</a:defRPr>
                      </a:pPr>
                      <a:r>
                        <a:t>Precision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</a:defRPr>
                      </a:pPr>
                      <a:r>
                        <a:t>Recall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</a:defRPr>
                      </a:pPr>
                      <a:r>
                        <a:t>F1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</a:defRPr>
                      </a:pPr>
                      <a:r>
                        <a:t>AUC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</a:defRPr>
                      </a:pPr>
                      <a:r>
                        <a:t>Log Loss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>
                        <a:defRPr sz="1000" b="1"/>
                      </a:pPr>
                      <a:r>
                        <a:t>Logistic Regression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/>
                      </a:pPr>
                      <a:r>
                        <a:t>91.07%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/>
                      </a:pPr>
                      <a:r>
                        <a:t>57.19%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/>
                      </a:pPr>
                      <a:r>
                        <a:t>94.10%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/>
                      </a:pPr>
                      <a:r>
                        <a:t>0.7115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/>
                      </a:pPr>
                      <a:r>
                        <a:t>0.9816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/>
                      </a:pPr>
                      <a:r>
                        <a:t>0.1885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>
                        <a:defRPr sz="1000" b="1"/>
                      </a:pPr>
                      <a:r>
                        <a:t>Decision Tree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/>
                      </a:pPr>
                      <a:r>
                        <a:t>89.26%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/>
                      </a:pPr>
                      <a:r>
                        <a:t>52.40%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/>
                      </a:pPr>
                      <a:r>
                        <a:t>89.49%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/>
                      </a:pPr>
                      <a:r>
                        <a:t>0.6610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/>
                      </a:pPr>
                      <a:r>
                        <a:t>0.9342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/>
                      </a:pPr>
                      <a:r>
                        <a:t>0.4943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>
                        <a:defRPr sz="1000" b="1"/>
                      </a:pPr>
                      <a:r>
                        <a:t>Random Forest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/>
                      </a:pPr>
                      <a:r>
                        <a:t>95.79%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/>
                      </a:pPr>
                      <a:r>
                        <a:t>76.13%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/>
                      </a:pPr>
                      <a:r>
                        <a:t>93.25%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/>
                      </a:pPr>
                      <a:r>
                        <a:t>0.8383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/>
                      </a:pPr>
                      <a:r>
                        <a:t>0.9910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/>
                      </a:pPr>
                      <a:r>
                        <a:t>0.1832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>
                        <a:defRPr sz="1000" b="1"/>
                      </a:pPr>
                      <a:r>
                        <a:t>Gradient Boosting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0B981"/>
                          </a:solidFill>
                        </a:defRPr>
                      </a:pPr>
                      <a:r>
                        <a:t>97.75%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0B981"/>
                          </a:solidFill>
                        </a:defRPr>
                      </a:pPr>
                      <a:r>
                        <a:t>97.11%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83.25%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0B981"/>
                          </a:solidFill>
                        </a:defRPr>
                      </a:pPr>
                      <a:r>
                        <a:t>0.8965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0B981"/>
                          </a:solidFill>
                        </a:defRPr>
                      </a:pPr>
                      <a:r>
                        <a:t>0.9973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0.0622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0" y="5303520"/>
            <a:ext cx="6156655" cy="10515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40680" y="5349240"/>
            <a:ext cx="5882335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2563EB"/>
                </a:solidFill>
              </a:defRPr>
            </a:pPr>
            <a:r>
              <a:t>★ Champion Architecture: Gradient Boosting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• Accuracy: 97.75%  |  Precision: 97.11%  |  F1-Score: 0.8965  |  ROC-AUC: 0.9973</a:t>
            </a:r>
            <a:br/>
            <a:r>
              <a:t>• Lowest Log Loss (0.0622) minimizes severe financial misclassification penalties.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"/>
            <a:ext cx="106984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CSI3010: DATA WAREHOUSING &amp; DATA MINING | REVIEW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Classification: Pictorial Diagnostics (Confusion Matrices &amp; ROC)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34440"/>
            <a:ext cx="521208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onfusion_matr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325880"/>
            <a:ext cx="5029200" cy="40233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217920" y="1234440"/>
            <a:ext cx="5242255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oc_curv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325880"/>
            <a:ext cx="5029200" cy="37719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31520" y="5486400"/>
            <a:ext cx="10728655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532120"/>
            <a:ext cx="10362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F172A"/>
                </a:solidFill>
              </a:defRPr>
            </a:pPr>
            <a:r>
              <a:t>Key Diagnostic Observations: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• Confusion Matrix: Gradient Boosting eliminates false alarms (only 2.89% false positive rate), preventing healthy customer turnaways.</a:t>
            </a:r>
            <a:br/>
            <a:r>
              <a:t>• ROC Curves: Gradient Boosting hugs the upper-left boundary (AUC = 0.9973), outperforming Decision Tree (0.934) and Logistic Reg (0.982).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"/>
            <a:ext cx="106984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CSI3010 | MODULE 2: CLUSTERING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Topic 2: Clustering — Concept &amp; Institutional Role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34440"/>
            <a:ext cx="5212080" cy="246888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48463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2563EB"/>
                </a:solidFill>
              </a:defRPr>
            </a:pPr>
            <a:r>
              <a:t>1. WHY We Used It (The Problem / Need)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</a:defRPr>
            </a:pPr>
            <a:r>
              <a:t>• Credit risk is not a flat binary outcome; borrowers have diverse financial archetypes.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</a:defRPr>
            </a:pPr>
            <a:r>
              <a:t>• Lenders need to discover natural customer segments without relying on past default labels.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</a:defRPr>
            </a:pPr>
            <a:r>
              <a:t>• Helps underwriters identify subtle risk buildup before defaults formally occur.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234440"/>
            <a:ext cx="5242255" cy="246888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4876495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0B981"/>
                </a:solidFill>
              </a:defRPr>
            </a:pPr>
            <a:r>
              <a:t>2. HOW We Used It (Methodology &amp; Pipeline)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</a:defRPr>
            </a:pPr>
            <a:r>
              <a:t>• Standardized 5 core numerical features: Income, CreditScore, LoanAmount, DTIRatio, MonthsEmployed.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</a:defRPr>
            </a:pPr>
            <a:r>
              <a:t>• Trained K-Means clustering across K=2 to 6, evaluating within-cluster inertia and Silhouette scores.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</a:defRPr>
            </a:pPr>
            <a:r>
              <a:t>• Identified optimal K=3 at the Elbow curve inflection point and validated cluster cohesion.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886200"/>
            <a:ext cx="5212080" cy="2560320"/>
          </a:xfrm>
          <a:prstGeom prst="roundRect">
            <a:avLst/>
          </a:prstGeom>
          <a:solidFill>
            <a:srgbClr val="FEF9C3"/>
          </a:solidFill>
          <a:ln w="12700">
            <a:solidFill>
              <a:srgbClr val="CA8A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023360"/>
            <a:ext cx="4846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CA8A04"/>
                </a:solidFill>
              </a:defRPr>
            </a:pPr>
            <a:r>
              <a:t>3. WHAT It Does in Our Project (System Role)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</a:defRPr>
            </a:pPr>
            <a:r>
              <a:t>• Groups 50,000 borrowers into 3 natural, interpretable risk profiles (Prime, Standard, Vulnerable).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</a:defRPr>
            </a:pPr>
            <a:r>
              <a:t>• Discovers that default rates differ by over 5x between clusters (3.93% vs. 20.36%) without using default labels during training.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</a:defRPr>
            </a:pPr>
            <a:r>
              <a:t>• Projects the 5D feature space into 2D PCA components for geometric risk space visualization.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886200"/>
            <a:ext cx="5242255" cy="2560320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4023360"/>
            <a:ext cx="487649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9333EA"/>
                </a:solidFill>
              </a:defRPr>
            </a:pPr>
            <a:r>
              <a:t>4. PRACTICAL USE (Underwriting &amp; Business Value)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</a:defRPr>
            </a:pPr>
            <a:r>
              <a:t>• Risk-Based Portfolio Pricing: Sets tailored interest rates and borrowing limits per tier.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</a:defRPr>
            </a:pPr>
            <a:r>
              <a:t>• Proactive Portfolio Monitoring: Targets vulnerable cohorts with financial counseling before defaults trigger.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</a:defRPr>
            </a:pPr>
            <a:r>
              <a:t>• Capital Allocation: Banks allocate capital reserves based on cluster risk concentrations.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"/>
            <a:ext cx="106984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CSI3010: DATA WAREHOUSING &amp; DATA MINING | REVIEW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Borrower Clustering: K-Means Code &amp; Optimal K Determination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34440"/>
            <a:ext cx="4389120" cy="51206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44168"/>
            <a:ext cx="4023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⚙  train_clustering.py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4023360" cy="4617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Consolas"/>
              </a:defRPr>
            </a:pPr>
            <a:r>
              <a:t># clustering/train_clustering.py</a:t>
            </a:r>
          </a:p>
          <a:p>
            <a:pPr>
              <a:defRPr sz="850">
                <a:solidFill>
                  <a:srgbClr val="93C5FD"/>
                </a:solidFill>
                <a:latin typeface="Consolas"/>
              </a:defRPr>
            </a:pPr>
            <a:r>
              <a:t>from sklearn.cluster import KMeans</a:t>
            </a:r>
          </a:p>
          <a:p>
            <a:pPr>
              <a:defRPr sz="850">
                <a:solidFill>
                  <a:srgbClr val="93C5FD"/>
                </a:solidFill>
                <a:latin typeface="Consolas"/>
              </a:defRPr>
            </a:pPr>
            <a:r>
              <a:t>from sklearn.metrics import silhouette_score</a:t>
            </a: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  <a:r>
              <a:t>features = ['Income', 'CreditScore', 'LoanAmount',</a:t>
            </a: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  <a:r>
              <a:t>            'DTIRatio', 'MonthsEmployed']</a:t>
            </a:r>
          </a:p>
          <a:p>
            <a:pPr>
              <a:defRPr sz="850">
                <a:solidFill>
                  <a:srgbClr val="6EE7B7"/>
                </a:solidFill>
                <a:latin typeface="Consolas"/>
              </a:defRPr>
            </a:pPr>
            <a:r>
              <a:t>X_scaled = StandardScaler().fit_transform(df[features])</a:t>
            </a: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</a:p>
          <a:p>
            <a:pPr>
              <a:defRPr sz="850">
                <a:solidFill>
                  <a:srgbClr val="94A3B8"/>
                </a:solidFill>
                <a:latin typeface="Consolas"/>
              </a:defRPr>
            </a:pPr>
            <a:r>
              <a:t># Evaluate K from 2 to 6</a:t>
            </a:r>
          </a:p>
          <a:p>
            <a:pPr>
              <a:defRPr sz="850">
                <a:solidFill>
                  <a:srgbClr val="93C5FD"/>
                </a:solidFill>
                <a:latin typeface="Consolas"/>
              </a:defRPr>
            </a:pPr>
            <a:r>
              <a:t>for k in range(2, 7):</a:t>
            </a:r>
          </a:p>
          <a:p>
            <a:pPr>
              <a:defRPr sz="850">
                <a:solidFill>
                  <a:srgbClr val="6EE7B7"/>
                </a:solidFill>
                <a:latin typeface="Consolas"/>
              </a:defRPr>
            </a:pPr>
            <a:r>
              <a:t>    kmeans = KMeans(n_clusters=k, random_state=42)</a:t>
            </a: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  <a:r>
              <a:t>    labels = kmeans.fit_predict(X_scaled)</a:t>
            </a: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  <a:r>
              <a:t>    inertia = kmeans.inertia_</a:t>
            </a: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  <a:r>
              <a:t>    sil = silhouette_score(X_scaled, labels)</a:t>
            </a: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</a:p>
          <a:p>
            <a:pPr>
              <a:defRPr sz="850">
                <a:solidFill>
                  <a:srgbClr val="94A3B8"/>
                </a:solidFill>
                <a:latin typeface="Consolas"/>
              </a:defRPr>
            </a:pPr>
            <a:r>
              <a:t># Selected optimal K=3 (Elbow Inflection)</a:t>
            </a:r>
          </a:p>
          <a:p>
            <a:pPr>
              <a:defRPr sz="850">
                <a:solidFill>
                  <a:srgbClr val="6EE7B7"/>
                </a:solidFill>
                <a:latin typeface="Consolas"/>
              </a:defRPr>
            </a:pPr>
            <a:r>
              <a:t>final_kmeans = KMeans(n_clusters=3, random_state=42)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0" y="1234440"/>
            <a:ext cx="6156655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lbow_silhouet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25880"/>
            <a:ext cx="5943600" cy="222885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0" y="5303520"/>
            <a:ext cx="6156655" cy="105156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40680" y="5349240"/>
            <a:ext cx="5882335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10B981"/>
                </a:solidFill>
              </a:defRPr>
            </a:pPr>
            <a:r>
              <a:t>Optimal K=3 Selection Criteria: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• Elbow Method: Inertia drops steeply from K=2 (212,115) to K=3 (189,245), flattens thereafter.</a:t>
            </a:r>
            <a:br/>
            <a:r>
              <a:t>• Silhouette Cohesion: Confirms K=3 naturally segments borrowers into Prime, Standard, and Subprime tiers.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"/>
            <a:ext cx="106984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CSI3010: DATA WAREHOUSING &amp; DATA MINING | REVIEW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Borrower Risk Profiles ($K=3$) &amp; 2D PCA Dimensionality Reduction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34440"/>
            <a:ext cx="566928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68680" y="1371600"/>
          <a:ext cx="53949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617220"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Cluster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Risk Tier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Share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Avg Credit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Avg Emp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Default Rate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Cluster 2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/>
                      </a:pPr>
                      <a:r>
                        <a:t>Low Risk (Prime)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37.6%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741.8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60.7 mos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10B981"/>
                          </a:solidFill>
                        </a:defRPr>
                      </a:pPr>
                      <a:r>
                        <a:t>3.93%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Cluster 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/>
                      </a:pPr>
                      <a:r>
                        <a:t>Moderate (Standard)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31.1%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470.8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91.5 mos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2563EB"/>
                          </a:solidFill>
                        </a:defRPr>
                      </a:pPr>
                      <a:r>
                        <a:t>12.38%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Cluster 0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/>
                      </a:pPr>
                      <a:r>
                        <a:t>High Risk (Subprime)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31.3%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475.2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27.0 mos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E11D48"/>
                          </a:solidFill>
                        </a:defRPr>
                      </a:pPr>
                      <a:r>
                        <a:t>20.36%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68680" y="3977639"/>
            <a:ext cx="53949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F172A"/>
                </a:solidFill>
              </a:defRPr>
            </a:pPr>
            <a:r>
              <a:t>Commercial Risk Segmentation:</a:t>
            </a:r>
          </a:p>
          <a:p>
            <a:pPr>
              <a:spcAft>
                <a:spcPts val="300"/>
              </a:spcAft>
              <a:defRPr sz="950">
                <a:solidFill>
                  <a:srgbClr val="334155"/>
                </a:solidFill>
              </a:defRPr>
            </a:pPr>
            <a:r>
              <a:t>• Prime Tier (Cluster 2): High credit (741.8) -&gt; lowest default rate (3.93%).</a:t>
            </a:r>
          </a:p>
          <a:p>
            <a:pPr>
              <a:spcAft>
                <a:spcPts val="300"/>
              </a:spcAft>
              <a:defRPr sz="950">
                <a:solidFill>
                  <a:srgbClr val="334155"/>
                </a:solidFill>
              </a:defRPr>
            </a:pPr>
            <a:r>
              <a:t>• Standard Tier (Cluster 1): Long employment tenure (91.5 mos) -&gt; moderate default (12.38%).</a:t>
            </a:r>
          </a:p>
          <a:p>
            <a:pPr>
              <a:spcAft>
                <a:spcPts val="300"/>
              </a:spcAft>
              <a:defRPr sz="950">
                <a:solidFill>
                  <a:srgbClr val="334155"/>
                </a:solidFill>
              </a:defRPr>
            </a:pPr>
            <a:r>
              <a:t>• Subprime Tier (Cluster 0): Short employment (27.0 mos) -&gt; default rate surges to 20.36% (5x higher than Prime).</a:t>
            </a:r>
          </a:p>
          <a:p>
            <a:pPr>
              <a:spcAft>
                <a:spcPts val="300"/>
              </a:spcAft>
              <a:defRPr sz="950">
                <a:solidFill>
                  <a:srgbClr val="334155"/>
                </a:solidFill>
              </a:defRPr>
            </a:pPr>
            <a:r>
              <a:t>• Unsupervised validation: Segments default risk without using Default labels.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0" y="1234440"/>
            <a:ext cx="4876495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luster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371600"/>
            <a:ext cx="4693615" cy="352021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"/>
            <a:ext cx="106984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CSI3010 | MODULE 3: ASSOCIATION RULES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Topic 3: Association Rules — Concept &amp; Institutional Role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34440"/>
            <a:ext cx="5212080" cy="246888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48463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2563EB"/>
                </a:solidFill>
              </a:defRPr>
            </a:pPr>
            <a:r>
              <a:t>1. WHY We Used It (The Problem / Need)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</a:defRPr>
            </a:pPr>
            <a:r>
              <a:t>• Loan defaults are rarely triggered by a single parameter in isolation.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</a:defRPr>
            </a:pPr>
            <a:r>
              <a:t>• Defaults happen when multiple adverse financial traits combine (e.g. low income + high DTI + poor credit).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</a:defRPr>
            </a:pPr>
            <a:r>
              <a:t>• Traditional linear scorecards fail to capture non-linear, multi-condition risk interactions.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234440"/>
            <a:ext cx="5242255" cy="246888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4876495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0B981"/>
                </a:solidFill>
              </a:defRPr>
            </a:pPr>
            <a:r>
              <a:t>2. HOW We Used It (Methodology &amp; Pipeline)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</a:defRPr>
            </a:pPr>
            <a:r>
              <a:t>• Discretized continuous metrics into domain bins (Income tertiles, Credit tiers, DTI brackets).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</a:defRPr>
            </a:pPr>
            <a:r>
              <a:t>• Applied the Apriori Algorithm (mlxtend) to mine frequent itemsets across 15,000 transactions.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</a:defRPr>
            </a:pPr>
            <a:r>
              <a:t>• Evaluated Support, Confidence, and Lift, filtering specifically for consequent Default=Yes.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886200"/>
            <a:ext cx="5212080" cy="2560320"/>
          </a:xfrm>
          <a:prstGeom prst="roundRect">
            <a:avLst/>
          </a:prstGeom>
          <a:solidFill>
            <a:srgbClr val="FEF9C3"/>
          </a:solidFill>
          <a:ln w="12700">
            <a:solidFill>
              <a:srgbClr val="CA8A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023360"/>
            <a:ext cx="4846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CA8A04"/>
                </a:solidFill>
              </a:defRPr>
            </a:pPr>
            <a:r>
              <a:t>3. WHAT It Does in Our Project (System Role)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</a:defRPr>
            </a:pPr>
            <a:r>
              <a:t>• Discovers non-trivial IF-THEN borrower risk patterns with statistical conviction.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</a:defRPr>
            </a:pPr>
            <a:r>
              <a:t>• Reveals that specific feature combinations increase default risk by over 5.69 times compared to random applicants.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</a:defRPr>
            </a:pPr>
            <a:r>
              <a:t>• Quantifies the protective impact of loan co-signers in mitigating default risk.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886200"/>
            <a:ext cx="5242255" cy="2560320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4023360"/>
            <a:ext cx="487649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9333EA"/>
                </a:solidFill>
              </a:defRPr>
            </a:pPr>
            <a:r>
              <a:t>4. PRACTICAL USE (Underwriting &amp; Business Value)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</a:defRPr>
            </a:pPr>
            <a:r>
              <a:t>• Underwriting Rule Engine: Automates policy rules (e.g. require collateral if Rule #1 triggers).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</a:defRPr>
            </a:pPr>
            <a:r>
              <a:t>• Underwriting Red Flags: Equips credit officers with an actionable risk checklist.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</a:defRPr>
            </a:pPr>
            <a:r>
              <a:t>• Policy Tuning: Informs credit committee policies on maximum loan sizes for low-income brackets.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"/>
            <a:ext cx="106984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CSI3010: DATA WAREHOUSING &amp; DATA MINING | REVIEW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Association Rules: Discretization &amp; Apriori Algorithm Code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34440"/>
            <a:ext cx="5303520" cy="51206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44168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⚙  mine_rules.py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4937760" cy="4617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Consolas"/>
              </a:defRPr>
            </a:pPr>
            <a:r>
              <a:t># association_rules/mine_rules.py</a:t>
            </a:r>
          </a:p>
          <a:p>
            <a:pPr>
              <a:defRPr sz="850">
                <a:solidFill>
                  <a:srgbClr val="93C5FD"/>
                </a:solidFill>
                <a:latin typeface="Consolas"/>
              </a:defRPr>
            </a:pPr>
            <a:r>
              <a:t>from mlxtend.frequent_patterns import apriori, association_rules</a:t>
            </a: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</a:p>
          <a:p>
            <a:pPr>
              <a:defRPr sz="850">
                <a:solidFill>
                  <a:srgbClr val="94A3B8"/>
                </a:solidFill>
                <a:latin typeface="Consolas"/>
              </a:defRPr>
            </a:pPr>
            <a:r>
              <a:t># Continuous Discretization</a:t>
            </a: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  <a:r>
              <a:t>df_disc['Income'] = pd.qcut(df['Income'], q=3, labels=['Low','Med','High'])</a:t>
            </a: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  <a:r>
              <a:t>df_disc['CreditScore'] = pd.cut(df['CreditScore'], bins=[0,580,670,740,850])</a:t>
            </a: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  <a:r>
              <a:t>df_disc['DTIRatio'] = pd.cut(df['DTIRatio'], bins=[0.0, 0.30, 0.50, 1.0])</a:t>
            </a: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  <a:r>
              <a:t>df_encoded = pd.get_dummies(df_disc, prefix='', prefix_sep='')</a:t>
            </a: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</a:p>
          <a:p>
            <a:pPr>
              <a:defRPr sz="850">
                <a:solidFill>
                  <a:srgbClr val="94A3B8"/>
                </a:solidFill>
                <a:latin typeface="Consolas"/>
              </a:defRPr>
            </a:pPr>
            <a:r>
              <a:t># Apriori Frequent Itemset Mining</a:t>
            </a:r>
          </a:p>
          <a:p>
            <a:pPr>
              <a:defRPr sz="850">
                <a:solidFill>
                  <a:srgbClr val="6EE7B7"/>
                </a:solidFill>
                <a:latin typeface="Consolas"/>
              </a:defRPr>
            </a:pPr>
            <a:r>
              <a:t>itemsets = apriori(df_encoded, min_support=0.03, use_colnames=True)</a:t>
            </a:r>
          </a:p>
          <a:p>
            <a:pPr>
              <a:defRPr sz="850">
                <a:solidFill>
                  <a:srgbClr val="6EE7B7"/>
                </a:solidFill>
                <a:latin typeface="Consolas"/>
              </a:defRPr>
            </a:pPr>
            <a:r>
              <a:t>rules = association_rules(itemsets, metric='confidence', min_threshold=0.30)</a:t>
            </a: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</a:p>
          <a:p>
            <a:pPr>
              <a:defRPr sz="850">
                <a:solidFill>
                  <a:srgbClr val="94A3B8"/>
                </a:solidFill>
                <a:latin typeface="Consolas"/>
              </a:defRPr>
            </a:pPr>
            <a:r>
              <a:t># Filter for Default=Yes sorted by Lift</a:t>
            </a: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  <a:r>
              <a:t>default_rules = rules[rules['consequents_str'].str.contains('Default=Yes')]</a:t>
            </a: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  <a:r>
              <a:t>top_rules = default_rules.sort_values(by='lift', ascending=False)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34440"/>
            <a:ext cx="5242255" cy="5120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371600"/>
            <a:ext cx="4846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</a:defRPr>
            </a:pPr>
            <a:r>
              <a:t>Mathematical Metrics &amp; Mining Rules</a:t>
            </a:r>
          </a:p>
          <a:p>
            <a:pPr>
              <a:spcAft>
                <a:spcPts val="800"/>
              </a:spcAft>
              <a:defRPr sz="1000">
                <a:solidFill>
                  <a:srgbClr val="334155"/>
                </a:solidFill>
              </a:defRPr>
            </a:pPr>
            <a:r>
              <a:t>• Support(A -&gt; B):</a:t>
            </a:r>
            <a:br/>
            <a:r>
              <a:t>  P(A and B)</a:t>
            </a:r>
            <a:br/>
            <a:r>
              <a:t>Frequency of co-occurrence in dataset (threshold = 3%).</a:t>
            </a:r>
          </a:p>
          <a:p>
            <a:pPr>
              <a:spcAft>
                <a:spcPts val="800"/>
              </a:spcAft>
              <a:defRPr sz="1000">
                <a:solidFill>
                  <a:srgbClr val="334155"/>
                </a:solidFill>
              </a:defRPr>
            </a:pPr>
            <a:r>
              <a:t>• Confidence(A -&gt; B):</a:t>
            </a:r>
            <a:br/>
            <a:r>
              <a:t>  P(B | A) = Support(A and B) / Support(A)</a:t>
            </a:r>
            <a:br/>
            <a:r>
              <a:t>Probability of Default given borrower conditions (threshold = 30%).</a:t>
            </a:r>
          </a:p>
          <a:p>
            <a:pPr>
              <a:spcAft>
                <a:spcPts val="800"/>
              </a:spcAft>
              <a:defRPr sz="1000">
                <a:solidFill>
                  <a:srgbClr val="334155"/>
                </a:solidFill>
              </a:defRPr>
            </a:pPr>
            <a:r>
              <a:t>• Lift(A -&gt; B):</a:t>
            </a:r>
            <a:br/>
            <a:r>
              <a:t>  Confidence / P(B)</a:t>
            </a:r>
            <a:br/>
            <a:r>
              <a:t>Multiplier over baseline default rate (11.7%).</a:t>
            </a:r>
            <a:br/>
            <a:r>
              <a:t>• Lift &gt; 1: Strong positive risk indicator</a:t>
            </a:r>
            <a:br/>
            <a:r>
              <a:t>• Lift = 5.69: 5.7x more likely to default than random.</a:t>
            </a:r>
          </a:p>
          <a:p>
            <a:pPr>
              <a:spcAft>
                <a:spcPts val="800"/>
              </a:spcAft>
              <a:defRPr sz="1000">
                <a:solidFill>
                  <a:srgbClr val="334155"/>
                </a:solidFill>
              </a:defRPr>
            </a:pPr>
            <a:r>
              <a:t>• Consequent:</a:t>
            </a:r>
            <a:br/>
            <a:r>
              <a:t>  Explicitly targeted for Default=Yes to isolate toxic risk rules.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"/>
            <a:ext cx="106984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CSI3010: DATA WAREHOUSING &amp; DATA MINING | REVIEW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Association Rules: Pictorial Lift Chart &amp; Top Risk Patterns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34440"/>
            <a:ext cx="5943600" cy="5120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rules_lift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325880"/>
            <a:ext cx="5760720" cy="316839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858000" y="1234440"/>
            <a:ext cx="4602175" cy="5120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95160" y="1371600"/>
            <a:ext cx="4297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172A"/>
                </a:solidFill>
              </a:defRPr>
            </a:pPr>
            <a:r>
              <a:t>Top Mined Rules (Ranked by Lift)</a:t>
            </a:r>
          </a:p>
          <a:p>
            <a:pPr>
              <a:defRPr sz="950" b="1">
                <a:solidFill>
                  <a:srgbClr val="2563EB"/>
                </a:solidFill>
              </a:defRPr>
            </a:pPr>
            <a:r>
              <a:t>• Rule 1 (Lift = 5.69x | Conf = 66.93%):</a:t>
            </a:r>
          </a:p>
          <a:p>
            <a:pPr>
              <a:spcAft>
                <a:spcPts val="500"/>
              </a:spcAft>
              <a:defRPr sz="900">
                <a:solidFill>
                  <a:srgbClr val="334155"/>
                </a:solidFill>
              </a:defRPr>
            </a:pPr>
            <a:r>
              <a:t>  Income=Low, CreditScore=Poor, LoanAmount=Large -&gt; Default=Yes</a:t>
            </a:r>
          </a:p>
          <a:p>
            <a:pPr>
              <a:defRPr sz="950" b="1">
                <a:solidFill>
                  <a:srgbClr val="2563EB"/>
                </a:solidFill>
              </a:defRPr>
            </a:pPr>
            <a:r>
              <a:t>• Rule 2 (Lift = 5.16x | Conf = 60.64%):</a:t>
            </a:r>
          </a:p>
          <a:p>
            <a:pPr>
              <a:spcAft>
                <a:spcPts val="500"/>
              </a:spcAft>
              <a:defRPr sz="900">
                <a:solidFill>
                  <a:srgbClr val="334155"/>
                </a:solidFill>
              </a:defRPr>
            </a:pPr>
            <a:r>
              <a:t>  Income=Low, DTIRatio=High, LoanAmount=Large -&gt; Default=Yes</a:t>
            </a:r>
          </a:p>
          <a:p>
            <a:pPr>
              <a:defRPr sz="950" b="1">
                <a:solidFill>
                  <a:srgbClr val="2563EB"/>
                </a:solidFill>
              </a:defRPr>
            </a:pPr>
            <a:r>
              <a:t>• Rule 3 (Lift = 4.64x | Conf = 54.49%):</a:t>
            </a:r>
          </a:p>
          <a:p>
            <a:pPr>
              <a:spcAft>
                <a:spcPts val="500"/>
              </a:spcAft>
              <a:defRPr sz="900">
                <a:solidFill>
                  <a:srgbClr val="334155"/>
                </a:solidFill>
              </a:defRPr>
            </a:pPr>
            <a:r>
              <a:t>  CreditScore=Poor, Income=Low, CoSigner=No, DTIRatio=High -&gt; Default=Yes</a:t>
            </a:r>
          </a:p>
          <a:p>
            <a:pPr>
              <a:defRPr sz="950" b="1">
                <a:solidFill>
                  <a:srgbClr val="2563EB"/>
                </a:solidFill>
              </a:defRPr>
            </a:pPr>
            <a:r>
              <a:t>• Rule 4 (Lift = 4.46x | Conf = 52.46%):</a:t>
            </a:r>
          </a:p>
          <a:p>
            <a:pPr>
              <a:spcAft>
                <a:spcPts val="500"/>
              </a:spcAft>
              <a:defRPr sz="900">
                <a:solidFill>
                  <a:srgbClr val="334155"/>
                </a:solidFill>
              </a:defRPr>
            </a:pPr>
            <a:r>
              <a:t>  Income=Low, CoSigner=No, LoanAmount=Large -&gt; Default=Yes</a:t>
            </a:r>
          </a:p>
          <a:p>
            <a:pPr>
              <a:defRPr sz="950" b="1">
                <a:solidFill>
                  <a:srgbClr val="BE123C"/>
                </a:solidFill>
              </a:defRPr>
            </a:pPr>
            <a:r>
              <a:t>• Key Finding:</a:t>
            </a:r>
          </a:p>
          <a:p>
            <a:pPr>
              <a:spcAft>
                <a:spcPts val="500"/>
              </a:spcAft>
              <a:defRPr sz="900">
                <a:solidFill>
                  <a:srgbClr val="334155"/>
                </a:solidFill>
              </a:defRPr>
            </a:pPr>
            <a:r>
              <a:t>  Subprime credit combined with large loan size and absence of a co-signer multiplies default risk by 4.6x to 5.7x over baseline.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"/>
            <a:ext cx="106984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CSI3010 | MODULE 4: PREDICTION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Topic 4: Prediction — Concept &amp; Institutional Role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34440"/>
            <a:ext cx="5212080" cy="246888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48463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2563EB"/>
                </a:solidFill>
              </a:defRPr>
            </a:pPr>
            <a:r>
              <a:t>1. WHY We Used It (The Problem / Need)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</a:defRPr>
            </a:pPr>
            <a:r>
              <a:t>• Real-world fintech does not use binary 0/1 hard decisions; credit risk is a continuous probability.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</a:defRPr>
            </a:pPr>
            <a:r>
              <a:t>• Loan pricing, interest rates, and regulatory capital reserves require an exact probability: P(Default=1).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</a:defRPr>
            </a:pPr>
            <a:r>
              <a:t>• Borrowers with 21% risk require very different underwriting actions than those with 95% risk.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234440"/>
            <a:ext cx="5242255" cy="246888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4876495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0B981"/>
                </a:solidFill>
              </a:defRPr>
            </a:pPr>
            <a:r>
              <a:t>2. HOW We Used It (Methodology &amp; Pipeline)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</a:defRPr>
            </a:pPr>
            <a:r>
              <a:t>• Built LoanDefaultPredictor wrapping the preprocessor and champion Gradient Boosting model.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</a:defRPr>
            </a:pPr>
            <a:r>
              <a:t>• Computes continuous probability P(Default=1) in [0.0, 1.0] for any raw borrower dictionary payload.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</a:defRPr>
            </a:pPr>
            <a:r>
              <a:t>• Evaluated probability calibration quality on test data using Brier Score Loss (0.0168) and Log Loss (0.0622).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886200"/>
            <a:ext cx="5212080" cy="2560320"/>
          </a:xfrm>
          <a:prstGeom prst="roundRect">
            <a:avLst/>
          </a:prstGeom>
          <a:solidFill>
            <a:srgbClr val="FEF9C3"/>
          </a:solidFill>
          <a:ln w="12700">
            <a:solidFill>
              <a:srgbClr val="CA8A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023360"/>
            <a:ext cx="4846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CA8A04"/>
                </a:solidFill>
              </a:defRPr>
            </a:pPr>
            <a:r>
              <a:t>3. WHAT It Does in Our Project (System Role)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</a:defRPr>
            </a:pPr>
            <a:r>
              <a:t>• Transforms raw applicant data in real time and predicts continuous default probability.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</a:defRPr>
            </a:pPr>
            <a:r>
              <a:t>• Maps probabilities into 4 clear risk tier badges: Low (&lt;20%), Moderate (20-45%), High (45-70%), Critical (&gt;=70%).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</a:defRPr>
            </a:pPr>
            <a:r>
              <a:t>• Automatically extracts specific contributing risk factors (e.g. DTI &gt; 45%, Credit &lt; 600, No Co-Signer).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886200"/>
            <a:ext cx="5242255" cy="2560320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4023360"/>
            <a:ext cx="487649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9333EA"/>
                </a:solidFill>
              </a:defRPr>
            </a:pPr>
            <a:r>
              <a:t>4. PRACTICAL USE (Underwriting &amp; Business Value)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</a:defRPr>
            </a:pPr>
            <a:r>
              <a:t>• Risk-Based Loan Pricing: Low risk applicants get prime APR (4.5%); higher risk gets compensatory pricing.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</a:defRPr>
            </a:pPr>
            <a:r>
              <a:t>• Automated Adverse Action Notices: Explains to applicants exactly why their loan terms were adjusted.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</a:defRPr>
            </a:pPr>
            <a:r>
              <a:t>• Live Web Integration: Powers the interactive real-time loan underwriting simulator in Review 3.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"/>
            <a:ext cx="106984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CSI3010: DATA WAREHOUSING &amp; DATA MINING | REVIEW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Prediction Engine: Continuous Scoring Code &amp; Policy Tiers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34440"/>
            <a:ext cx="4754880" cy="51206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44168"/>
            <a:ext cx="43891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⚙  predictor.py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4389120" cy="4617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Consolas"/>
              </a:defRPr>
            </a:pPr>
            <a:r>
              <a:t># prediction/predictor.py</a:t>
            </a:r>
          </a:p>
          <a:p>
            <a:pPr>
              <a:defRPr sz="850">
                <a:solidFill>
                  <a:srgbClr val="93C5FD"/>
                </a:solidFill>
                <a:latin typeface="Consolas"/>
              </a:defRPr>
            </a:pPr>
            <a:r>
              <a:t>class LoanDefaultPredictor:</a:t>
            </a:r>
          </a:p>
          <a:p>
            <a:pPr>
              <a:defRPr sz="850">
                <a:solidFill>
                  <a:srgbClr val="93C5FD"/>
                </a:solidFill>
                <a:latin typeface="Consolas"/>
              </a:defRPr>
            </a:pPr>
            <a:r>
              <a:t>    def predict_borrower_risk(self, borrower_data):</a:t>
            </a:r>
          </a:p>
          <a:p>
            <a:pPr>
              <a:defRPr sz="850">
                <a:solidFill>
                  <a:srgbClr val="94A3B8"/>
                </a:solidFill>
                <a:latin typeface="Consolas"/>
              </a:defRPr>
            </a:pPr>
            <a:r>
              <a:t>        # Preprocessing transform</a:t>
            </a: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  <a:r>
              <a:t>        df_input = pd.DataFrame([borrower_data])</a:t>
            </a: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  <a:r>
              <a:t>        X_trans = self.preprocessor.transform(df_input)</a:t>
            </a: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  <a:r>
              <a:t>        </a:t>
            </a:r>
          </a:p>
          <a:p>
            <a:pPr>
              <a:defRPr sz="850">
                <a:solidFill>
                  <a:srgbClr val="94A3B8"/>
                </a:solidFill>
                <a:latin typeface="Consolas"/>
              </a:defRPr>
            </a:pPr>
            <a:r>
              <a:t>        # Continuous probability P(Default=1)</a:t>
            </a: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  <a:r>
              <a:t>        prob = float(self.model.predict_proba(X_trans)[0, 1])</a:t>
            </a: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  <a:r>
              <a:t>        </a:t>
            </a:r>
          </a:p>
          <a:p>
            <a:pPr>
              <a:defRPr sz="850">
                <a:solidFill>
                  <a:srgbClr val="94A3B8"/>
                </a:solidFill>
                <a:latin typeface="Consolas"/>
              </a:defRPr>
            </a:pPr>
            <a:r>
              <a:t>        # 4-Tier Risk Categorization</a:t>
            </a:r>
          </a:p>
          <a:p>
            <a:pPr>
              <a:defRPr sz="850">
                <a:solidFill>
                  <a:srgbClr val="93C5FD"/>
                </a:solidFill>
                <a:latin typeface="Consolas"/>
              </a:defRPr>
            </a:pPr>
            <a:r>
              <a:t>        if prob &lt; 0.20:   tier = 'Low Risk'</a:t>
            </a:r>
          </a:p>
          <a:p>
            <a:pPr>
              <a:defRPr sz="850">
                <a:solidFill>
                  <a:srgbClr val="93C5FD"/>
                </a:solidFill>
                <a:latin typeface="Consolas"/>
              </a:defRPr>
            </a:pPr>
            <a:r>
              <a:t>        elif prob &lt; 0.45: tier = 'Moderate Risk'</a:t>
            </a:r>
          </a:p>
          <a:p>
            <a:pPr>
              <a:defRPr sz="850">
                <a:solidFill>
                  <a:srgbClr val="93C5FD"/>
                </a:solidFill>
                <a:latin typeface="Consolas"/>
              </a:defRPr>
            </a:pPr>
            <a:r>
              <a:t>        elif prob &lt; 0.70: tier = 'High Risk'</a:t>
            </a:r>
          </a:p>
          <a:p>
            <a:pPr>
              <a:defRPr sz="850">
                <a:solidFill>
                  <a:srgbClr val="93C5FD"/>
                </a:solidFill>
                <a:latin typeface="Consolas"/>
              </a:defRPr>
            </a:pPr>
            <a:r>
              <a:t>        else:             tier = 'Critical Risk'</a:t>
            </a: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  <a:r>
              <a:t>        </a:t>
            </a:r>
          </a:p>
          <a:p>
            <a:pPr>
              <a:defRPr sz="850">
                <a:solidFill>
                  <a:srgbClr val="93C5FD"/>
                </a:solidFill>
                <a:latin typeface="Consolas"/>
              </a:defRPr>
            </a:pPr>
            <a:r>
              <a:t>        return {'prob': prob, 'tier': tier, 'factors': warnings}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0" y="1234440"/>
            <a:ext cx="5790895" cy="155448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06440" y="132588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63EB"/>
                </a:solidFill>
              </a:defRPr>
            </a:pPr>
            <a:r>
              <a:t>Probability Calibration Metrics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• Brier Score: 0.0168 (near zero indicates exceptional probability calibration quality)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• Test Set ROC-AUC: 0.9973  |  Model Log Loss: 0.0622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• Sample Prime Scoring: Credit 810, DTI 0.15 -&gt; P(Default) = 0.02% (Low Risk Badge)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• Sample Subprime Scoring: Credit 420, DTI 0.82 -&gt; P(Default) = 99.99% (Critical Risk Badge)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0" y="2926080"/>
            <a:ext cx="5790895" cy="3429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06440" y="301752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F172A"/>
                </a:solidFill>
              </a:defRPr>
            </a:pPr>
            <a:r>
              <a:t>4-Tier Underwriting Decision Matrix</a:t>
            </a:r>
          </a:p>
          <a:p>
            <a:pPr>
              <a:defRPr sz="1000" b="1">
                <a:solidFill>
                  <a:srgbClr val="10B981"/>
                </a:solidFill>
              </a:defRPr>
            </a:pPr>
            <a:r>
              <a:t>Low Risk (P &lt; 20%):</a:t>
            </a:r>
          </a:p>
          <a:p>
            <a:pPr>
              <a:spcAft>
                <a:spcPts val="400"/>
              </a:spcAft>
              <a:defRPr sz="950">
                <a:solidFill>
                  <a:srgbClr val="334155"/>
                </a:solidFill>
              </a:defRPr>
            </a:pPr>
            <a:r>
              <a:t>  Fast-track instant approval; Prime interest rate (4.5% - 7.5% APR).</a:t>
            </a:r>
          </a:p>
          <a:p>
            <a:pPr>
              <a:defRPr sz="1000" b="1">
                <a:solidFill>
                  <a:srgbClr val="2563EB"/>
                </a:solidFill>
              </a:defRPr>
            </a:pPr>
            <a:r>
              <a:t>Moderate Risk (20% &lt;= P &lt; 45%):</a:t>
            </a:r>
          </a:p>
          <a:p>
            <a:pPr>
              <a:spcAft>
                <a:spcPts val="400"/>
              </a:spcAft>
              <a:defRPr sz="950">
                <a:solidFill>
                  <a:srgbClr val="334155"/>
                </a:solidFill>
              </a:defRPr>
            </a:pPr>
            <a:r>
              <a:t>  Standard underwriting review; income verification required.</a:t>
            </a:r>
          </a:p>
          <a:p>
            <a:pPr>
              <a:defRPr sz="1000" b="1">
                <a:solidFill>
                  <a:srgbClr val="D97706"/>
                </a:solidFill>
              </a:defRPr>
            </a:pPr>
            <a:r>
              <a:t>High Risk (45% &lt;= P &lt; 70%):</a:t>
            </a:r>
          </a:p>
          <a:p>
            <a:pPr>
              <a:spcAft>
                <a:spcPts val="400"/>
              </a:spcAft>
              <a:defRPr sz="950">
                <a:solidFill>
                  <a:srgbClr val="334155"/>
                </a:solidFill>
              </a:defRPr>
            </a:pPr>
            <a:r>
              <a:t>  Conditional approval; mandatory co-signer and collateral required.</a:t>
            </a:r>
          </a:p>
          <a:p>
            <a:pPr>
              <a:defRPr sz="1000" b="1">
                <a:solidFill>
                  <a:srgbClr val="E11D48"/>
                </a:solidFill>
              </a:defRPr>
            </a:pPr>
            <a:r>
              <a:t>Critical Risk (P &gt;= 70%):</a:t>
            </a:r>
          </a:p>
          <a:p>
            <a:pPr>
              <a:spcAft>
                <a:spcPts val="400"/>
              </a:spcAft>
              <a:defRPr sz="950">
                <a:solidFill>
                  <a:srgbClr val="334155"/>
                </a:solidFill>
              </a:defRPr>
            </a:pPr>
            <a:r>
              <a:t>  Automated decline; risk exceeds institutional lending tolerance.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"/>
            <a:ext cx="106984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CSI3010: DATA WAREHOUSING &amp; DATA MINING | REVIEW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Summary of Review 2 &amp; Roadmap to Final Review 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34440"/>
            <a:ext cx="5212080" cy="5120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4846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</a:defRPr>
            </a:pPr>
            <a:r>
              <a:t>Review 2 Deliverables Accomplished</a:t>
            </a:r>
          </a:p>
          <a:p>
            <a:pPr>
              <a:spcAft>
                <a:spcPts val="800"/>
              </a:spcAft>
              <a:defRPr sz="1000">
                <a:solidFill>
                  <a:srgbClr val="334155"/>
                </a:solidFill>
              </a:defRPr>
            </a:pPr>
            <a:r>
              <a:t>✓ Classification: Benchmarked 4 classifiers; Gradient Boosting selected as champion (F1 = 0.8965, ROC-AUC = 0.9973).</a:t>
            </a:r>
          </a:p>
          <a:p>
            <a:pPr>
              <a:spcAft>
                <a:spcPts val="800"/>
              </a:spcAft>
              <a:defRPr sz="1000">
                <a:solidFill>
                  <a:srgbClr val="334155"/>
                </a:solidFill>
              </a:defRPr>
            </a:pPr>
            <a:r>
              <a:t>✓ Clustering: K-Means segmented borrowers into 3 profiles (Prime: 3.93% default vs Subprime: 20.36% default).</a:t>
            </a:r>
          </a:p>
          <a:p>
            <a:pPr>
              <a:spcAft>
                <a:spcPts val="800"/>
              </a:spcAft>
              <a:defRPr sz="1000">
                <a:solidFill>
                  <a:srgbClr val="334155"/>
                </a:solidFill>
              </a:defRPr>
            </a:pPr>
            <a:r>
              <a:t>✓ Association Rules: Apriori mined high-conviction risk rules with Lift up to 5.69x over baseline.</a:t>
            </a:r>
          </a:p>
          <a:p>
            <a:pPr>
              <a:spcAft>
                <a:spcPts val="800"/>
              </a:spcAft>
              <a:defRPr sz="1000">
                <a:solidFill>
                  <a:srgbClr val="334155"/>
                </a:solidFill>
              </a:defRPr>
            </a:pPr>
            <a:r>
              <a:t>✓ Prediction Engine: Operational continuous probability scoring with 0.0168 Brier score calibration.</a:t>
            </a:r>
          </a:p>
          <a:p>
            <a:pPr>
              <a:spcAft>
                <a:spcPts val="800"/>
              </a:spcAft>
              <a:defRPr sz="1000">
                <a:solidFill>
                  <a:srgbClr val="334155"/>
                </a:solidFill>
              </a:defRPr>
            </a:pPr>
            <a:r>
              <a:t>✓ Git Repository: All code, models, and artifacts version-controlled on GitHub main.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234440"/>
            <a:ext cx="5242255" cy="5120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4846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</a:defRPr>
            </a:pPr>
            <a:r>
              <a:t>Roadmap to Final Review 3</a:t>
            </a:r>
          </a:p>
          <a:p>
            <a:pPr>
              <a:spcAft>
                <a:spcPts val="800"/>
              </a:spcAft>
              <a:defRPr sz="1000">
                <a:solidFill>
                  <a:srgbClr val="334155"/>
                </a:solidFill>
              </a:defRPr>
            </a:pPr>
            <a:r>
              <a:t>➔ Interactive Web Application: Full React 19 + Vite dashboard featuring 7 visual analytical tabs.</a:t>
            </a:r>
          </a:p>
          <a:p>
            <a:pPr>
              <a:spcAft>
                <a:spcPts val="800"/>
              </a:spcAft>
              <a:defRPr sz="1000">
                <a:solidFill>
                  <a:srgbClr val="334155"/>
                </a:solidFill>
              </a:defRPr>
            </a:pPr>
            <a:r>
              <a:t>➔ Real-Time Loan Simulator: Live applicant scoring form with dynamic probability and risk factor alerts.</a:t>
            </a:r>
          </a:p>
          <a:p>
            <a:pPr>
              <a:spcAft>
                <a:spcPts val="800"/>
              </a:spcAft>
              <a:defRPr sz="1000">
                <a:solidFill>
                  <a:srgbClr val="334155"/>
                </a:solidFill>
              </a:defRPr>
            </a:pPr>
            <a:r>
              <a:t>➔ Secondary Python Dashboard: Interactive Streamlit platform for parameter exploration.</a:t>
            </a:r>
          </a:p>
          <a:p>
            <a:pPr>
              <a:spcAft>
                <a:spcPts val="800"/>
              </a:spcAft>
              <a:defRPr sz="1000">
                <a:solidFill>
                  <a:srgbClr val="334155"/>
                </a:solidFill>
              </a:defRPr>
            </a:pPr>
            <a:r>
              <a:t>➔ End-to-End Demonstration: Integration from Star Schema Data Warehouse (Review 1) through ML Underwriting (Review 2).</a:t>
            </a:r>
          </a:p>
          <a:p>
            <a:pPr>
              <a:spcAft>
                <a:spcPts val="800"/>
              </a:spcAft>
              <a:defRPr sz="1000">
                <a:solidFill>
                  <a:srgbClr val="334155"/>
                </a:solidFill>
              </a:defRPr>
            </a:pPr>
            <a:r>
              <a:t>➔ Institutional Deployment: Production build compiled with zero errors, ready for cloud hosting.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