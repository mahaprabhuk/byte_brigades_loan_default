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faculty. Today we present Review 2 of our project: Loan Default Prediction and Risk Profiling System. In Review 1 we completed the Star Schema Data Warehouse and OLAP operations. In Review 2 we cover the core data mining deliverables: Classification, Clustering, Association Rule Mining, and Default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credit risk, class distribution is naturally skewed. Here only 11.7% of loans default. If a model blindly predicts 0 for all loans, it gets 88.3% accuracy yet is completely useless. Therefore, our model benchmarking strictly prioritizes Recall, F1-Score, and ROC-AUC.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comparative benchmark table evaluated on the 10,000 holdout test set. While Logistic Regression had high recall, its precision was only 57%, rejecting too many good customers. Gradient Boosting achieved 97.11% precision with 83.25% recall, giving the top F1-Score of 0.8965 and an exceptional ROC-AUC of 0.9973.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the confusion matrices demonstrate how Gradient Boosting dramatically reduces False Positives compared to baseline models. On the right, the ROC curves illustrate that Gradient Boosting pushes closest to the top-left corner, achieving an Area Under Curve of 0.9973.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unsupervised segmentation, we used K-Means on normalized financial features. Evaluating K from 2 to 6, both the Elbow curve inertia drop and Silhouette scores indicate K=3 is the optimal inflection point, creating three commercially practical risk tiers.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mined borrower profiles. Cluster 2 represents our Prime borrowers with average credit of 741.8 and a low 3.93% default rate. Cluster 0 captures High-Risk borrowers who have brief employment history (27 months), exhibiting a 20.36% default rate. The 2D PCA projection clearly shows the geometric separation among these three segments.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apply the Apriori algorithm, continuous numerical features were discretized into quantiles and credit bureau bands. We evaluated rules based on Support, Confidence, and Lift. Lift is particularly crucial because it measures the multiplicative increase in default risk over baseline.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top-ranked association rules. Rule 1 shows that an applicant with Low Income, Poor Credit, and a Large Loan Amount has a 66.93% default confidence, which is 5.69 times higher than random chance. Rule 3 highlights that the lack of a co-signer combined with high DTI increases default probability to over 54%.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Unlike binary classification, modern fintech uses continuous probability scoring. Our engine achieves a Brier score of 0.0168, proving high probability reliability. We map probabilities into 4 risk tiers and dynamically generate explainable risk factors.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all four required components of Review 2 are completely built, benchmarked, and verified. For Review 3, we will demonstrate the fully integrated interactive web dashboard and real-time loan underwriting simulator. Thank you faculty, we are now ready for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62895" cy="4114800"/>
          </a:xfrm>
          <a:prstGeom prst="rect">
            <a:avLst/>
          </a:prstGeom>
          <a:noFill/>
        </p:spPr>
        <p:txBody>
          <a:bodyPr wrap="square">
            <a:spAutoFit/>
          </a:bodyPr>
          <a:lstStyle/>
          <a:p>
            <a:pPr>
              <a:spcAft>
                <a:spcPts val="1200"/>
              </a:spcAft>
              <a:defRPr sz="1200" b="1">
                <a:solidFill>
                  <a:srgbClr val="10B981"/>
                </a:solidFill>
              </a:defRPr>
            </a:pPr>
            <a:r>
              <a:t>DATA WAREHOUSING &amp; DATA MINING  |  ACADEMIC REVIEW 2</a:t>
            </a:r>
          </a:p>
          <a:p>
            <a:pPr>
              <a:spcAft>
                <a:spcPts val="1600"/>
              </a:spcAft>
              <a:defRPr sz="3600" b="1">
                <a:solidFill>
                  <a:srgbClr val="FFFFFF"/>
                </a:solidFill>
              </a:defRPr>
            </a:pPr>
            <a:r>
              <a:t>Loan Default Risk Prediction &amp;</a:t>
            </a:r>
            <a:br/>
            <a:r>
              <a:t>Borrower Profiling System</a:t>
            </a:r>
          </a:p>
          <a:p>
            <a:pPr>
              <a:spcAft>
                <a:spcPts val="3200"/>
              </a:spcAft>
              <a:defRPr sz="1400">
                <a:solidFill>
                  <a:srgbClr val="94A3B8"/>
                </a:solidFill>
              </a:defRPr>
            </a:pPr>
            <a:r>
              <a:t>Deliverables: Supervised Classification  •  K-Means Clustering  •  Apriori Association Rules  •  Prediction Engine</a:t>
            </a:r>
          </a:p>
          <a:p>
            <a:pPr>
              <a:defRPr sz="1200" b="1">
                <a:solidFill>
                  <a:srgbClr val="FFFFFF"/>
                </a:solidFill>
              </a:defRPr>
            </a:pPr>
            <a:r>
              <a:t>Team: Byte Brigades  |  Dataset: 50,000 Records, 18 Features  |  Target: Default (Binary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274320"/>
          </a:xfrm>
          <a:prstGeom prst="rect">
            <a:avLst/>
          </a:prstGeom>
          <a:noFill/>
        </p:spPr>
        <p:txBody>
          <a:bodyPr wrap="square" lIns="0" tIns="0" rIns="0" bIns="0">
            <a:spAutoFit/>
          </a:bodyPr>
          <a:lstStyle/>
          <a:p>
            <a:pPr>
              <a:defRPr sz="1000" b="1">
                <a:solidFill>
                  <a:srgbClr val="2563EB"/>
                </a:solidFill>
              </a:defRPr>
            </a:pPr>
            <a:r>
              <a:t>ACADEMIC REVIEW 2 | DWDM</a:t>
            </a:r>
          </a:p>
        </p:txBody>
      </p:sp>
      <p:sp>
        <p:nvSpPr>
          <p:cNvPr id="4" name="TextBox 3"/>
          <p:cNvSpPr txBox="1"/>
          <p:nvPr/>
        </p:nvSpPr>
        <p:spPr>
          <a:xfrm>
            <a:off x="731520" y="530352"/>
            <a:ext cx="10698480" cy="548640"/>
          </a:xfrm>
          <a:prstGeom prst="rect">
            <a:avLst/>
          </a:prstGeom>
          <a:noFill/>
        </p:spPr>
        <p:txBody>
          <a:bodyPr wrap="square" lIns="0" tIns="0" rIns="0" bIns="0">
            <a:spAutoFit/>
          </a:bodyPr>
          <a:lstStyle/>
          <a:p>
            <a:pPr>
              <a:defRPr sz="2200" b="1">
                <a:solidFill>
                  <a:srgbClr val="0F172A"/>
                </a:solidFill>
              </a:defRPr>
            </a:pPr>
            <a:r>
              <a:t>Problem Definition &amp; The Class Imbalance Challenge</a:t>
            </a:r>
          </a:p>
        </p:txBody>
      </p:sp>
      <p:sp>
        <p:nvSpPr>
          <p:cNvPr id="5" name="Rounded Rectangle 4"/>
          <p:cNvSpPr/>
          <p:nvPr/>
        </p:nvSpPr>
        <p:spPr>
          <a:xfrm>
            <a:off x="731520" y="1280160"/>
            <a:ext cx="329184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2926080" cy="4572000"/>
          </a:xfrm>
          <a:prstGeom prst="rect">
            <a:avLst/>
          </a:prstGeom>
          <a:noFill/>
        </p:spPr>
        <p:txBody>
          <a:bodyPr wrap="square">
            <a:spAutoFit/>
          </a:bodyPr>
          <a:lstStyle/>
          <a:p>
            <a:pPr>
              <a:spcAft>
                <a:spcPts val="1400"/>
              </a:spcAft>
              <a:defRPr sz="1600" b="1">
                <a:solidFill>
                  <a:srgbClr val="0F172A"/>
                </a:solidFill>
              </a:defRPr>
            </a:pPr>
            <a:r>
              <a:t>Dataset &amp; Preprocessing</a:t>
            </a:r>
          </a:p>
          <a:p>
            <a:pPr>
              <a:spcAft>
                <a:spcPts val="1000"/>
              </a:spcAft>
              <a:defRPr sz="1200">
                <a:solidFill>
                  <a:srgbClr val="334155"/>
                </a:solidFill>
              </a:defRPr>
            </a:pPr>
            <a:r>
              <a:t>• Total Records: 50,000 loans</a:t>
            </a:r>
          </a:p>
          <a:p>
            <a:pPr>
              <a:spcAft>
                <a:spcPts val="1000"/>
              </a:spcAft>
              <a:defRPr sz="1200">
                <a:solidFill>
                  <a:srgbClr val="334155"/>
                </a:solidFill>
              </a:defRPr>
            </a:pPr>
            <a:r>
              <a:t>• Feature Space: 18 financial &amp; demographic columns</a:t>
            </a:r>
          </a:p>
          <a:p>
            <a:pPr>
              <a:spcAft>
                <a:spcPts val="1000"/>
              </a:spcAft>
              <a:defRPr sz="1200">
                <a:solidFill>
                  <a:srgbClr val="334155"/>
                </a:solidFill>
              </a:defRPr>
            </a:pPr>
            <a:r>
              <a:t>• Train/Test Split: 80% Train (40,000) / 20% Test (10,000)</a:t>
            </a:r>
          </a:p>
          <a:p>
            <a:pPr>
              <a:spcAft>
                <a:spcPts val="1000"/>
              </a:spcAft>
              <a:defRPr sz="1200">
                <a:solidFill>
                  <a:srgbClr val="334155"/>
                </a:solidFill>
              </a:defRPr>
            </a:pPr>
            <a:r>
              <a:t>• Partitioning: Stratified sampling to preserve default ratios</a:t>
            </a:r>
          </a:p>
          <a:p>
            <a:pPr>
              <a:spcAft>
                <a:spcPts val="1000"/>
              </a:spcAft>
              <a:defRPr sz="1200">
                <a:solidFill>
                  <a:srgbClr val="334155"/>
                </a:solidFill>
              </a:defRPr>
            </a:pPr>
            <a:r>
              <a:t>• Data Leakage: Zero leakage. StandardScaler &amp; OneHotEncoder fit strictly on training set.</a:t>
            </a:r>
          </a:p>
        </p:txBody>
      </p:sp>
      <p:sp>
        <p:nvSpPr>
          <p:cNvPr id="7" name="Rounded Rectangle 6"/>
          <p:cNvSpPr/>
          <p:nvPr/>
        </p:nvSpPr>
        <p:spPr>
          <a:xfrm>
            <a:off x="4297680" y="1280160"/>
            <a:ext cx="347472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463040"/>
            <a:ext cx="3108960" cy="4572000"/>
          </a:xfrm>
          <a:prstGeom prst="rect">
            <a:avLst/>
          </a:prstGeom>
          <a:noFill/>
        </p:spPr>
        <p:txBody>
          <a:bodyPr wrap="square">
            <a:spAutoFit/>
          </a:bodyPr>
          <a:lstStyle/>
          <a:p>
            <a:pPr>
              <a:spcAft>
                <a:spcPts val="1400"/>
              </a:spcAft>
              <a:defRPr sz="1600" b="1">
                <a:solidFill>
                  <a:srgbClr val="0F172A"/>
                </a:solidFill>
              </a:defRPr>
            </a:pPr>
            <a:r>
              <a:t>The Class Imbalance Problem</a:t>
            </a:r>
          </a:p>
          <a:p>
            <a:pPr>
              <a:spcAft>
                <a:spcPts val="1000"/>
              </a:spcAft>
              <a:defRPr sz="1200">
                <a:solidFill>
                  <a:srgbClr val="334155"/>
                </a:solidFill>
              </a:defRPr>
            </a:pPr>
            <a:r>
              <a:t>• Non-Defaulters (Class 0): 88.3% (~44,150)</a:t>
            </a:r>
          </a:p>
          <a:p>
            <a:pPr>
              <a:spcAft>
                <a:spcPts val="1000"/>
              </a:spcAft>
              <a:defRPr sz="1200">
                <a:solidFill>
                  <a:srgbClr val="334155"/>
                </a:solidFill>
              </a:defRPr>
            </a:pPr>
            <a:r>
              <a:t>• Defaulters (Class 1): 11.7% (~5,850)</a:t>
            </a:r>
          </a:p>
          <a:p>
            <a:pPr>
              <a:spcAft>
                <a:spcPts val="1000"/>
              </a:spcAft>
              <a:defRPr sz="1200">
                <a:solidFill>
                  <a:srgbClr val="334155"/>
                </a:solidFill>
              </a:defRPr>
            </a:pPr>
            <a:r>
              <a:t>• The 'Accuracy Trap': A naive baseline predicting 'No Default' for all applicants achieves 88.3% accuracy while catching 0% of actual defaulters.</a:t>
            </a:r>
          </a:p>
          <a:p>
            <a:pPr>
              <a:spcAft>
                <a:spcPts val="1000"/>
              </a:spcAft>
              <a:defRPr sz="1200">
                <a:solidFill>
                  <a:srgbClr val="334155"/>
                </a:solidFill>
              </a:defRPr>
            </a:pPr>
            <a:r>
              <a:t>• Financial Impact: Defaulters cause severe institutional lending losses; false negatives are far more costly than false positives.</a:t>
            </a:r>
          </a:p>
        </p:txBody>
      </p:sp>
      <p:sp>
        <p:nvSpPr>
          <p:cNvPr id="9" name="Rounded Rectangle 8"/>
          <p:cNvSpPr/>
          <p:nvPr/>
        </p:nvSpPr>
        <p:spPr>
          <a:xfrm>
            <a:off x="8046720" y="128016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463040"/>
            <a:ext cx="3017520" cy="4572000"/>
          </a:xfrm>
          <a:prstGeom prst="rect">
            <a:avLst/>
          </a:prstGeom>
          <a:noFill/>
        </p:spPr>
        <p:txBody>
          <a:bodyPr wrap="square">
            <a:spAutoFit/>
          </a:bodyPr>
          <a:lstStyle/>
          <a:p>
            <a:pPr>
              <a:spcAft>
                <a:spcPts val="1400"/>
              </a:spcAft>
              <a:defRPr sz="1600" b="1">
                <a:solidFill>
                  <a:srgbClr val="0F172A"/>
                </a:solidFill>
              </a:defRPr>
            </a:pPr>
            <a:r>
              <a:t>Evaluation Priority Metrics</a:t>
            </a:r>
          </a:p>
          <a:p>
            <a:pPr>
              <a:spcAft>
                <a:spcPts val="1000"/>
              </a:spcAft>
              <a:defRPr sz="1200">
                <a:solidFill>
                  <a:srgbClr val="334155"/>
                </a:solidFill>
              </a:defRPr>
            </a:pPr>
            <a:r>
              <a:t>• Recall (Sensitivity): Maximizes detection of true defaulters, preventing toxic loan write-offs.</a:t>
            </a:r>
          </a:p>
          <a:p>
            <a:pPr>
              <a:spcAft>
                <a:spcPts val="1000"/>
              </a:spcAft>
              <a:defRPr sz="1200">
                <a:solidFill>
                  <a:srgbClr val="334155"/>
                </a:solidFill>
              </a:defRPr>
            </a:pPr>
            <a:r>
              <a:t>• Precision: Prevents false rejections of creditworthy borrowers.</a:t>
            </a:r>
          </a:p>
          <a:p>
            <a:pPr>
              <a:spcAft>
                <a:spcPts val="1000"/>
              </a:spcAft>
              <a:defRPr sz="1200">
                <a:solidFill>
                  <a:srgbClr val="334155"/>
                </a:solidFill>
              </a:defRPr>
            </a:pPr>
            <a:r>
              <a:t>• F1-Score: Harmonic mean balancing precision and recall under imbalance.</a:t>
            </a:r>
          </a:p>
          <a:p>
            <a:pPr>
              <a:spcAft>
                <a:spcPts val="1000"/>
              </a:spcAft>
              <a:defRPr sz="1200">
                <a:solidFill>
                  <a:srgbClr val="334155"/>
                </a:solidFill>
              </a:defRPr>
            </a:pPr>
            <a:r>
              <a:t>• ROC-AUC: Threshold-independent discriminatory power across all probability cutoffs.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274320"/>
          </a:xfrm>
          <a:prstGeom prst="rect">
            <a:avLst/>
          </a:prstGeom>
          <a:noFill/>
        </p:spPr>
        <p:txBody>
          <a:bodyPr wrap="square" lIns="0" tIns="0" rIns="0" bIns="0">
            <a:spAutoFit/>
          </a:bodyPr>
          <a:lstStyle/>
          <a:p>
            <a:pPr>
              <a:defRPr sz="1000" b="1">
                <a:solidFill>
                  <a:srgbClr val="2563EB"/>
                </a:solidFill>
              </a:defRPr>
            </a:pPr>
            <a:r>
              <a:t>ACADEMIC REVIEW 2 | DWDM</a:t>
            </a:r>
          </a:p>
        </p:txBody>
      </p:sp>
      <p:sp>
        <p:nvSpPr>
          <p:cNvPr id="4" name="TextBox 3"/>
          <p:cNvSpPr txBox="1"/>
          <p:nvPr/>
        </p:nvSpPr>
        <p:spPr>
          <a:xfrm>
            <a:off x="731520" y="530352"/>
            <a:ext cx="10698480" cy="548640"/>
          </a:xfrm>
          <a:prstGeom prst="rect">
            <a:avLst/>
          </a:prstGeom>
          <a:noFill/>
        </p:spPr>
        <p:txBody>
          <a:bodyPr wrap="square" lIns="0" tIns="0" rIns="0" bIns="0">
            <a:spAutoFit/>
          </a:bodyPr>
          <a:lstStyle/>
          <a:p>
            <a:pPr>
              <a:defRPr sz="2200" b="1">
                <a:solidFill>
                  <a:srgbClr val="0F172A"/>
                </a:solidFill>
              </a:defRPr>
            </a:pPr>
            <a:r>
              <a:t>Classification: Multi-Model Benchmark Comparison</a:t>
            </a:r>
          </a:p>
        </p:txBody>
      </p:sp>
      <p:sp>
        <p:nvSpPr>
          <p:cNvPr id="5" name="Rounded Rectangle 4"/>
          <p:cNvSpPr/>
          <p:nvPr/>
        </p:nvSpPr>
        <p:spPr>
          <a:xfrm>
            <a:off x="731520" y="1280160"/>
            <a:ext cx="10728655" cy="3931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1005840" y="1554480"/>
          <a:ext cx="10180015" cy="3291840"/>
        </p:xfrm>
        <a:graphic>
          <a:graphicData uri="http://schemas.openxmlformats.org/drawingml/2006/table">
            <a:tbl>
              <a:tblPr firstRow="1" bandRow="1">
                <a:tableStyleId>{5C22544A-7EE6-4342-B048-85BDC9FD1C3A}</a:tableStyleId>
              </a:tblPr>
              <a:tblGrid>
                <a:gridCol w="1454287"/>
                <a:gridCol w="1454287"/>
                <a:gridCol w="1454287"/>
                <a:gridCol w="1454287"/>
                <a:gridCol w="1454287"/>
                <a:gridCol w="1454287"/>
                <a:gridCol w="1454293"/>
              </a:tblGrid>
              <a:tr h="658368">
                <a:tc>
                  <a:txBody>
                    <a:bodyPr/>
                    <a:lstStyle/>
                    <a:p>
                      <a:pPr algn="ctr">
                        <a:defRPr sz="1200" b="1">
                          <a:solidFill>
                            <a:srgbClr val="FFFFFF"/>
                          </a:solidFill>
                        </a:defRPr>
                      </a:pPr>
                      <a:r>
                        <a:t>Model Architecture</a:t>
                      </a:r>
                    </a:p>
                  </a:txBody>
                  <a:tcPr>
                    <a:solidFill>
                      <a:srgbClr val="0F172A"/>
                    </a:solidFill>
                  </a:tcPr>
                </a:tc>
                <a:tc>
                  <a:txBody>
                    <a:bodyPr/>
                    <a:lstStyle/>
                    <a:p>
                      <a:pPr algn="ctr">
                        <a:defRPr sz="1200" b="1">
                          <a:solidFill>
                            <a:srgbClr val="FFFFFF"/>
                          </a:solidFill>
                        </a:defRPr>
                      </a:pPr>
                      <a:r>
                        <a:t>Accuracy</a:t>
                      </a:r>
                    </a:p>
                  </a:txBody>
                  <a:tcPr>
                    <a:solidFill>
                      <a:srgbClr val="0F172A"/>
                    </a:solidFill>
                  </a:tcPr>
                </a:tc>
                <a:tc>
                  <a:txBody>
                    <a:bodyPr/>
                    <a:lstStyle/>
                    <a:p>
                      <a:pPr algn="ctr">
                        <a:defRPr sz="1200" b="1">
                          <a:solidFill>
                            <a:srgbClr val="FFFFFF"/>
                          </a:solidFill>
                        </a:defRPr>
                      </a:pPr>
                      <a:r>
                        <a:t>Precision</a:t>
                      </a:r>
                    </a:p>
                  </a:txBody>
                  <a:tcPr>
                    <a:solidFill>
                      <a:srgbClr val="0F172A"/>
                    </a:solidFill>
                  </a:tcPr>
                </a:tc>
                <a:tc>
                  <a:txBody>
                    <a:bodyPr/>
                    <a:lstStyle/>
                    <a:p>
                      <a:pPr algn="ctr">
                        <a:defRPr sz="1200" b="1">
                          <a:solidFill>
                            <a:srgbClr val="FFFFFF"/>
                          </a:solidFill>
                        </a:defRPr>
                      </a:pPr>
                      <a:r>
                        <a:t>Recall</a:t>
                      </a:r>
                    </a:p>
                  </a:txBody>
                  <a:tcPr>
                    <a:solidFill>
                      <a:srgbClr val="0F172A"/>
                    </a:solidFill>
                  </a:tcPr>
                </a:tc>
                <a:tc>
                  <a:txBody>
                    <a:bodyPr/>
                    <a:lstStyle/>
                    <a:p>
                      <a:pPr algn="ctr">
                        <a:defRPr sz="1200" b="1">
                          <a:solidFill>
                            <a:srgbClr val="FFFFFF"/>
                          </a:solidFill>
                        </a:defRPr>
                      </a:pPr>
                      <a:r>
                        <a:t>F1-Score</a:t>
                      </a:r>
                    </a:p>
                  </a:txBody>
                  <a:tcPr>
                    <a:solidFill>
                      <a:srgbClr val="0F172A"/>
                    </a:solidFill>
                  </a:tcPr>
                </a:tc>
                <a:tc>
                  <a:txBody>
                    <a:bodyPr/>
                    <a:lstStyle/>
                    <a:p>
                      <a:pPr algn="ctr">
                        <a:defRPr sz="1200" b="1">
                          <a:solidFill>
                            <a:srgbClr val="FFFFFF"/>
                          </a:solidFill>
                        </a:defRPr>
                      </a:pPr>
                      <a:r>
                        <a:t>ROC-AUC</a:t>
                      </a:r>
                    </a:p>
                  </a:txBody>
                  <a:tcPr>
                    <a:solidFill>
                      <a:srgbClr val="0F172A"/>
                    </a:solidFill>
                  </a:tcPr>
                </a:tc>
                <a:tc>
                  <a:txBody>
                    <a:bodyPr/>
                    <a:lstStyle/>
                    <a:p>
                      <a:pPr algn="ctr">
                        <a:defRPr sz="1200" b="1">
                          <a:solidFill>
                            <a:srgbClr val="FFFFFF"/>
                          </a:solidFill>
                        </a:defRPr>
                      </a:pPr>
                      <a:r>
                        <a:t>Log Loss</a:t>
                      </a:r>
                    </a:p>
                  </a:txBody>
                  <a:tcPr>
                    <a:solidFill>
                      <a:srgbClr val="0F172A"/>
                    </a:solidFill>
                  </a:tcPr>
                </a:tc>
              </a:tr>
              <a:tr h="658368">
                <a:tc>
                  <a:txBody>
                    <a:bodyPr/>
                    <a:lstStyle/>
                    <a:p>
                      <a:pPr algn="l">
                        <a:defRPr sz="1100" b="1">
                          <a:solidFill>
                            <a:srgbClr val="334155"/>
                          </a:solidFill>
                        </a:defRPr>
                      </a:pPr>
                      <a:r>
                        <a:t>Logistic Regression (Balanced)</a:t>
                      </a:r>
                    </a:p>
                  </a:txBody>
                  <a:tcPr>
                    <a:solidFill>
                      <a:srgbClr val="FFFFFF"/>
                    </a:solidFill>
                  </a:tcPr>
                </a:tc>
                <a:tc>
                  <a:txBody>
                    <a:bodyPr/>
                    <a:lstStyle/>
                    <a:p>
                      <a:pPr algn="ctr">
                        <a:defRPr sz="1100" b="0">
                          <a:solidFill>
                            <a:srgbClr val="334155"/>
                          </a:solidFill>
                        </a:defRPr>
                      </a:pPr>
                      <a:r>
                        <a:t>91.07%</a:t>
                      </a:r>
                    </a:p>
                  </a:txBody>
                  <a:tcPr>
                    <a:solidFill>
                      <a:srgbClr val="FFFFFF"/>
                    </a:solidFill>
                  </a:tcPr>
                </a:tc>
                <a:tc>
                  <a:txBody>
                    <a:bodyPr/>
                    <a:lstStyle/>
                    <a:p>
                      <a:pPr algn="ctr">
                        <a:defRPr sz="1100" b="0">
                          <a:solidFill>
                            <a:srgbClr val="334155"/>
                          </a:solidFill>
                        </a:defRPr>
                      </a:pPr>
                      <a:r>
                        <a:t>57.19%</a:t>
                      </a:r>
                    </a:p>
                  </a:txBody>
                  <a:tcPr>
                    <a:solidFill>
                      <a:srgbClr val="FFFFFF"/>
                    </a:solidFill>
                  </a:tcPr>
                </a:tc>
                <a:tc>
                  <a:txBody>
                    <a:bodyPr/>
                    <a:lstStyle/>
                    <a:p>
                      <a:pPr algn="ctr">
                        <a:defRPr sz="1100" b="0">
                          <a:solidFill>
                            <a:srgbClr val="334155"/>
                          </a:solidFill>
                        </a:defRPr>
                      </a:pPr>
                      <a:r>
                        <a:t>94.10%</a:t>
                      </a:r>
                    </a:p>
                  </a:txBody>
                  <a:tcPr>
                    <a:solidFill>
                      <a:srgbClr val="FFFFFF"/>
                    </a:solidFill>
                  </a:tcPr>
                </a:tc>
                <a:tc>
                  <a:txBody>
                    <a:bodyPr/>
                    <a:lstStyle/>
                    <a:p>
                      <a:pPr algn="ctr">
                        <a:defRPr sz="1100" b="0">
                          <a:solidFill>
                            <a:srgbClr val="334155"/>
                          </a:solidFill>
                        </a:defRPr>
                      </a:pPr>
                      <a:r>
                        <a:t>0.7115</a:t>
                      </a:r>
                    </a:p>
                  </a:txBody>
                  <a:tcPr>
                    <a:solidFill>
                      <a:srgbClr val="FFFFFF"/>
                    </a:solidFill>
                  </a:tcPr>
                </a:tc>
                <a:tc>
                  <a:txBody>
                    <a:bodyPr/>
                    <a:lstStyle/>
                    <a:p>
                      <a:pPr algn="ctr">
                        <a:defRPr sz="1100" b="0">
                          <a:solidFill>
                            <a:srgbClr val="334155"/>
                          </a:solidFill>
                        </a:defRPr>
                      </a:pPr>
                      <a:r>
                        <a:t>0.9816</a:t>
                      </a:r>
                    </a:p>
                  </a:txBody>
                  <a:tcPr>
                    <a:solidFill>
                      <a:srgbClr val="FFFFFF"/>
                    </a:solidFill>
                  </a:tcPr>
                </a:tc>
                <a:tc>
                  <a:txBody>
                    <a:bodyPr/>
                    <a:lstStyle/>
                    <a:p>
                      <a:pPr algn="ctr">
                        <a:defRPr sz="1100" b="0">
                          <a:solidFill>
                            <a:srgbClr val="334155"/>
                          </a:solidFill>
                        </a:defRPr>
                      </a:pPr>
                      <a:r>
                        <a:t>0.1885</a:t>
                      </a:r>
                    </a:p>
                  </a:txBody>
                  <a:tcPr>
                    <a:solidFill>
                      <a:srgbClr val="FFFFFF"/>
                    </a:solidFill>
                  </a:tcPr>
                </a:tc>
              </a:tr>
              <a:tr h="658368">
                <a:tc>
                  <a:txBody>
                    <a:bodyPr/>
                    <a:lstStyle/>
                    <a:p>
                      <a:pPr algn="l">
                        <a:defRPr sz="1100" b="1">
                          <a:solidFill>
                            <a:srgbClr val="334155"/>
                          </a:solidFill>
                        </a:defRPr>
                      </a:pPr>
                      <a:r>
                        <a:t>Decision Tree (max_depth=8)</a:t>
                      </a:r>
                    </a:p>
                  </a:txBody>
                  <a:tcPr>
                    <a:solidFill>
                      <a:srgbClr val="F1F5F9"/>
                    </a:solidFill>
                  </a:tcPr>
                </a:tc>
                <a:tc>
                  <a:txBody>
                    <a:bodyPr/>
                    <a:lstStyle/>
                    <a:p>
                      <a:pPr algn="ctr">
                        <a:defRPr sz="1100" b="0">
                          <a:solidFill>
                            <a:srgbClr val="334155"/>
                          </a:solidFill>
                        </a:defRPr>
                      </a:pPr>
                      <a:r>
                        <a:t>89.26%</a:t>
                      </a:r>
                    </a:p>
                  </a:txBody>
                  <a:tcPr>
                    <a:solidFill>
                      <a:srgbClr val="F1F5F9"/>
                    </a:solidFill>
                  </a:tcPr>
                </a:tc>
                <a:tc>
                  <a:txBody>
                    <a:bodyPr/>
                    <a:lstStyle/>
                    <a:p>
                      <a:pPr algn="ctr">
                        <a:defRPr sz="1100" b="0">
                          <a:solidFill>
                            <a:srgbClr val="334155"/>
                          </a:solidFill>
                        </a:defRPr>
                      </a:pPr>
                      <a:r>
                        <a:t>52.40%</a:t>
                      </a:r>
                    </a:p>
                  </a:txBody>
                  <a:tcPr>
                    <a:solidFill>
                      <a:srgbClr val="F1F5F9"/>
                    </a:solidFill>
                  </a:tcPr>
                </a:tc>
                <a:tc>
                  <a:txBody>
                    <a:bodyPr/>
                    <a:lstStyle/>
                    <a:p>
                      <a:pPr algn="ctr">
                        <a:defRPr sz="1100" b="0">
                          <a:solidFill>
                            <a:srgbClr val="334155"/>
                          </a:solidFill>
                        </a:defRPr>
                      </a:pPr>
                      <a:r>
                        <a:t>89.49%</a:t>
                      </a:r>
                    </a:p>
                  </a:txBody>
                  <a:tcPr>
                    <a:solidFill>
                      <a:srgbClr val="F1F5F9"/>
                    </a:solidFill>
                  </a:tcPr>
                </a:tc>
                <a:tc>
                  <a:txBody>
                    <a:bodyPr/>
                    <a:lstStyle/>
                    <a:p>
                      <a:pPr algn="ctr">
                        <a:defRPr sz="1100" b="0">
                          <a:solidFill>
                            <a:srgbClr val="334155"/>
                          </a:solidFill>
                        </a:defRPr>
                      </a:pPr>
                      <a:r>
                        <a:t>0.6610</a:t>
                      </a:r>
                    </a:p>
                  </a:txBody>
                  <a:tcPr>
                    <a:solidFill>
                      <a:srgbClr val="F1F5F9"/>
                    </a:solidFill>
                  </a:tcPr>
                </a:tc>
                <a:tc>
                  <a:txBody>
                    <a:bodyPr/>
                    <a:lstStyle/>
                    <a:p>
                      <a:pPr algn="ctr">
                        <a:defRPr sz="1100" b="0">
                          <a:solidFill>
                            <a:srgbClr val="334155"/>
                          </a:solidFill>
                        </a:defRPr>
                      </a:pPr>
                      <a:r>
                        <a:t>0.9342</a:t>
                      </a:r>
                    </a:p>
                  </a:txBody>
                  <a:tcPr>
                    <a:solidFill>
                      <a:srgbClr val="F1F5F9"/>
                    </a:solidFill>
                  </a:tcPr>
                </a:tc>
                <a:tc>
                  <a:txBody>
                    <a:bodyPr/>
                    <a:lstStyle/>
                    <a:p>
                      <a:pPr algn="ctr">
                        <a:defRPr sz="1100" b="0">
                          <a:solidFill>
                            <a:srgbClr val="334155"/>
                          </a:solidFill>
                        </a:defRPr>
                      </a:pPr>
                      <a:r>
                        <a:t>0.4943</a:t>
                      </a:r>
                    </a:p>
                  </a:txBody>
                  <a:tcPr>
                    <a:solidFill>
                      <a:srgbClr val="F1F5F9"/>
                    </a:solidFill>
                  </a:tcPr>
                </a:tc>
              </a:tr>
              <a:tr h="658368">
                <a:tc>
                  <a:txBody>
                    <a:bodyPr/>
                    <a:lstStyle/>
                    <a:p>
                      <a:pPr algn="l">
                        <a:defRPr sz="1100" b="1">
                          <a:solidFill>
                            <a:srgbClr val="334155"/>
                          </a:solidFill>
                        </a:defRPr>
                      </a:pPr>
                      <a:r>
                        <a:t>Random Forest (100 Trees)</a:t>
                      </a:r>
                    </a:p>
                  </a:txBody>
                  <a:tcPr>
                    <a:solidFill>
                      <a:srgbClr val="FFFFFF"/>
                    </a:solidFill>
                  </a:tcPr>
                </a:tc>
                <a:tc>
                  <a:txBody>
                    <a:bodyPr/>
                    <a:lstStyle/>
                    <a:p>
                      <a:pPr algn="ctr">
                        <a:defRPr sz="1100" b="0">
                          <a:solidFill>
                            <a:srgbClr val="334155"/>
                          </a:solidFill>
                        </a:defRPr>
                      </a:pPr>
                      <a:r>
                        <a:t>95.79%</a:t>
                      </a:r>
                    </a:p>
                  </a:txBody>
                  <a:tcPr>
                    <a:solidFill>
                      <a:srgbClr val="FFFFFF"/>
                    </a:solidFill>
                  </a:tcPr>
                </a:tc>
                <a:tc>
                  <a:txBody>
                    <a:bodyPr/>
                    <a:lstStyle/>
                    <a:p>
                      <a:pPr algn="ctr">
                        <a:defRPr sz="1100" b="0">
                          <a:solidFill>
                            <a:srgbClr val="334155"/>
                          </a:solidFill>
                        </a:defRPr>
                      </a:pPr>
                      <a:r>
                        <a:t>76.13%</a:t>
                      </a:r>
                    </a:p>
                  </a:txBody>
                  <a:tcPr>
                    <a:solidFill>
                      <a:srgbClr val="FFFFFF"/>
                    </a:solidFill>
                  </a:tcPr>
                </a:tc>
                <a:tc>
                  <a:txBody>
                    <a:bodyPr/>
                    <a:lstStyle/>
                    <a:p>
                      <a:pPr algn="ctr">
                        <a:defRPr sz="1100" b="0">
                          <a:solidFill>
                            <a:srgbClr val="334155"/>
                          </a:solidFill>
                        </a:defRPr>
                      </a:pPr>
                      <a:r>
                        <a:t>93.25%</a:t>
                      </a:r>
                    </a:p>
                  </a:txBody>
                  <a:tcPr>
                    <a:solidFill>
                      <a:srgbClr val="FFFFFF"/>
                    </a:solidFill>
                  </a:tcPr>
                </a:tc>
                <a:tc>
                  <a:txBody>
                    <a:bodyPr/>
                    <a:lstStyle/>
                    <a:p>
                      <a:pPr algn="ctr">
                        <a:defRPr sz="1100" b="0">
                          <a:solidFill>
                            <a:srgbClr val="334155"/>
                          </a:solidFill>
                        </a:defRPr>
                      </a:pPr>
                      <a:r>
                        <a:t>0.8383</a:t>
                      </a:r>
                    </a:p>
                  </a:txBody>
                  <a:tcPr>
                    <a:solidFill>
                      <a:srgbClr val="FFFFFF"/>
                    </a:solidFill>
                  </a:tcPr>
                </a:tc>
                <a:tc>
                  <a:txBody>
                    <a:bodyPr/>
                    <a:lstStyle/>
                    <a:p>
                      <a:pPr algn="ctr">
                        <a:defRPr sz="1100" b="0">
                          <a:solidFill>
                            <a:srgbClr val="334155"/>
                          </a:solidFill>
                        </a:defRPr>
                      </a:pPr>
                      <a:r>
                        <a:t>0.9910</a:t>
                      </a:r>
                    </a:p>
                  </a:txBody>
                  <a:tcPr>
                    <a:solidFill>
                      <a:srgbClr val="FFFFFF"/>
                    </a:solidFill>
                  </a:tcPr>
                </a:tc>
                <a:tc>
                  <a:txBody>
                    <a:bodyPr/>
                    <a:lstStyle/>
                    <a:p>
                      <a:pPr algn="ctr">
                        <a:defRPr sz="1100" b="0">
                          <a:solidFill>
                            <a:srgbClr val="334155"/>
                          </a:solidFill>
                        </a:defRPr>
                      </a:pPr>
                      <a:r>
                        <a:t>0.1832</a:t>
                      </a:r>
                    </a:p>
                  </a:txBody>
                  <a:tcPr>
                    <a:solidFill>
                      <a:srgbClr val="FFFFFF"/>
                    </a:solidFill>
                  </a:tcPr>
                </a:tc>
              </a:tr>
              <a:tr h="658368">
                <a:tc>
                  <a:txBody>
                    <a:bodyPr/>
                    <a:lstStyle/>
                    <a:p>
                      <a:pPr algn="l">
                        <a:defRPr sz="1100" b="1">
                          <a:solidFill>
                            <a:srgbClr val="334155"/>
                          </a:solidFill>
                        </a:defRPr>
                      </a:pPr>
                      <a:r>
                        <a:t>Gradient Boosting (Champion)</a:t>
                      </a:r>
                    </a:p>
                  </a:txBody>
                  <a:tcPr>
                    <a:solidFill>
                      <a:srgbClr val="ECFDF5"/>
                    </a:solidFill>
                  </a:tcPr>
                </a:tc>
                <a:tc>
                  <a:txBody>
                    <a:bodyPr/>
                    <a:lstStyle/>
                    <a:p>
                      <a:pPr algn="ctr">
                        <a:defRPr sz="1100" b="1">
                          <a:solidFill>
                            <a:srgbClr val="10B981"/>
                          </a:solidFill>
                        </a:defRPr>
                      </a:pPr>
                      <a:r>
                        <a:t>97.75%</a:t>
                      </a:r>
                    </a:p>
                  </a:txBody>
                  <a:tcPr>
                    <a:solidFill>
                      <a:srgbClr val="ECFDF5"/>
                    </a:solidFill>
                  </a:tcPr>
                </a:tc>
                <a:tc>
                  <a:txBody>
                    <a:bodyPr/>
                    <a:lstStyle/>
                    <a:p>
                      <a:pPr algn="ctr">
                        <a:defRPr sz="1100" b="1">
                          <a:solidFill>
                            <a:srgbClr val="10B981"/>
                          </a:solidFill>
                        </a:defRPr>
                      </a:pPr>
                      <a:r>
                        <a:t>97.11%</a:t>
                      </a:r>
                    </a:p>
                  </a:txBody>
                  <a:tcPr>
                    <a:solidFill>
                      <a:srgbClr val="ECFDF5"/>
                    </a:solidFill>
                  </a:tcPr>
                </a:tc>
                <a:tc>
                  <a:txBody>
                    <a:bodyPr/>
                    <a:lstStyle/>
                    <a:p>
                      <a:pPr algn="ctr">
                        <a:defRPr sz="1100" b="1">
                          <a:solidFill>
                            <a:srgbClr val="334155"/>
                          </a:solidFill>
                        </a:defRPr>
                      </a:pPr>
                      <a:r>
                        <a:t>83.25%</a:t>
                      </a:r>
                    </a:p>
                  </a:txBody>
                  <a:tcPr>
                    <a:solidFill>
                      <a:srgbClr val="ECFDF5"/>
                    </a:solidFill>
                  </a:tcPr>
                </a:tc>
                <a:tc>
                  <a:txBody>
                    <a:bodyPr/>
                    <a:lstStyle/>
                    <a:p>
                      <a:pPr algn="ctr">
                        <a:defRPr sz="1100" b="1">
                          <a:solidFill>
                            <a:srgbClr val="10B981"/>
                          </a:solidFill>
                        </a:defRPr>
                      </a:pPr>
                      <a:r>
                        <a:t>0.8965</a:t>
                      </a:r>
                    </a:p>
                  </a:txBody>
                  <a:tcPr>
                    <a:solidFill>
                      <a:srgbClr val="ECFDF5"/>
                    </a:solidFill>
                  </a:tcPr>
                </a:tc>
                <a:tc>
                  <a:txBody>
                    <a:bodyPr/>
                    <a:lstStyle/>
                    <a:p>
                      <a:pPr algn="ctr">
                        <a:defRPr sz="1100" b="1">
                          <a:solidFill>
                            <a:srgbClr val="10B981"/>
                          </a:solidFill>
                        </a:defRPr>
                      </a:pPr>
                      <a:r>
                        <a:t>0.9973</a:t>
                      </a:r>
                    </a:p>
                  </a:txBody>
                  <a:tcPr>
                    <a:solidFill>
                      <a:srgbClr val="ECFDF5"/>
                    </a:solidFill>
                  </a:tcPr>
                </a:tc>
                <a:tc>
                  <a:txBody>
                    <a:bodyPr/>
                    <a:lstStyle/>
                    <a:p>
                      <a:pPr algn="ctr">
                        <a:defRPr sz="1100" b="1">
                          <a:solidFill>
                            <a:srgbClr val="334155"/>
                          </a:solidFill>
                        </a:defRPr>
                      </a:pPr>
                      <a:r>
                        <a:t>0.0622</a:t>
                      </a:r>
                    </a:p>
                  </a:txBody>
                  <a:tcPr>
                    <a:solidFill>
                      <a:srgbClr val="ECFDF5"/>
                    </a:solidFill>
                  </a:tcPr>
                </a:tc>
              </a:tr>
            </a:tbl>
          </a:graphicData>
        </a:graphic>
      </p:graphicFrame>
      <p:sp>
        <p:nvSpPr>
          <p:cNvPr id="7" name="Rounded Rectangle 6"/>
          <p:cNvSpPr/>
          <p:nvPr/>
        </p:nvSpPr>
        <p:spPr>
          <a:xfrm>
            <a:off x="731520" y="5394960"/>
            <a:ext cx="10728655" cy="1005840"/>
          </a:xfrm>
          <a:prstGeom prst="roundRect">
            <a:avLst/>
          </a:prstGeom>
          <a:solidFill>
            <a:srgbClr val="EEF2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440680"/>
            <a:ext cx="10362895" cy="822960"/>
          </a:xfrm>
          <a:prstGeom prst="rect">
            <a:avLst/>
          </a:prstGeom>
          <a:noFill/>
        </p:spPr>
        <p:txBody>
          <a:bodyPr wrap="square">
            <a:spAutoFit/>
          </a:bodyPr>
          <a:lstStyle/>
          <a:p>
            <a:pPr>
              <a:defRPr sz="1300" b="1">
                <a:solidFill>
                  <a:srgbClr val="2563EB"/>
                </a:solidFill>
              </a:defRPr>
            </a:pPr>
            <a:r>
              <a:t>Key Finding &amp; Champion Selection:</a:t>
            </a:r>
          </a:p>
          <a:p>
            <a:pPr>
              <a:defRPr sz="1100">
                <a:solidFill>
                  <a:srgbClr val="334155"/>
                </a:solidFill>
              </a:defRPr>
            </a:pPr>
            <a:r>
              <a:t>Gradient Boosting outperforms all models with 97.75% Accuracy, 97.11% Precision, 0.8965 F1-Score, and 0.9973 ROC-AUC. It achieves minimal false alarms while retaining strong default detection, drastically minimizing institutional Log Loss (0.0622).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274320"/>
          </a:xfrm>
          <a:prstGeom prst="rect">
            <a:avLst/>
          </a:prstGeom>
          <a:noFill/>
        </p:spPr>
        <p:txBody>
          <a:bodyPr wrap="square" lIns="0" tIns="0" rIns="0" bIns="0">
            <a:spAutoFit/>
          </a:bodyPr>
          <a:lstStyle/>
          <a:p>
            <a:pPr>
              <a:defRPr sz="1000" b="1">
                <a:solidFill>
                  <a:srgbClr val="2563EB"/>
                </a:solidFill>
              </a:defRPr>
            </a:pPr>
            <a:r>
              <a:t>ACADEMIC REVIEW 2 | DWDM</a:t>
            </a:r>
          </a:p>
        </p:txBody>
      </p:sp>
      <p:sp>
        <p:nvSpPr>
          <p:cNvPr id="4" name="TextBox 3"/>
          <p:cNvSpPr txBox="1"/>
          <p:nvPr/>
        </p:nvSpPr>
        <p:spPr>
          <a:xfrm>
            <a:off x="731520" y="530352"/>
            <a:ext cx="10698480" cy="548640"/>
          </a:xfrm>
          <a:prstGeom prst="rect">
            <a:avLst/>
          </a:prstGeom>
          <a:noFill/>
        </p:spPr>
        <p:txBody>
          <a:bodyPr wrap="square" lIns="0" tIns="0" rIns="0" bIns="0">
            <a:spAutoFit/>
          </a:bodyPr>
          <a:lstStyle/>
          <a:p>
            <a:pPr>
              <a:defRPr sz="2200" b="1">
                <a:solidFill>
                  <a:srgbClr val="0F172A"/>
                </a:solidFill>
              </a:defRPr>
            </a:pPr>
            <a:r>
              <a:t>Classification: Confusion Matrices &amp; ROC Curves</a:t>
            </a:r>
          </a:p>
        </p:txBody>
      </p:sp>
      <p:sp>
        <p:nvSpPr>
          <p:cNvPr id="5" name="Rounded Rectangle 4"/>
          <p:cNvSpPr/>
          <p:nvPr/>
        </p:nvSpPr>
        <p:spPr>
          <a:xfrm>
            <a:off x="731520" y="1280160"/>
            <a:ext cx="521208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fusion_matrices.png"/>
          <p:cNvPicPr>
            <a:picLocks noChangeAspect="1"/>
          </p:cNvPicPr>
          <p:nvPr/>
        </p:nvPicPr>
        <p:blipFill>
          <a:blip r:embed="rId2"/>
          <a:stretch>
            <a:fillRect/>
          </a:stretch>
        </p:blipFill>
        <p:spPr>
          <a:xfrm>
            <a:off x="822960" y="1371600"/>
            <a:ext cx="5029200" cy="4023360"/>
          </a:xfrm>
          <a:prstGeom prst="rect">
            <a:avLst/>
          </a:prstGeom>
        </p:spPr>
      </p:pic>
      <p:sp>
        <p:nvSpPr>
          <p:cNvPr id="7" name="Rounded Rectangle 6"/>
          <p:cNvSpPr/>
          <p:nvPr/>
        </p:nvSpPr>
        <p:spPr>
          <a:xfrm>
            <a:off x="6217920" y="1280160"/>
            <a:ext cx="521208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c_curves.png"/>
          <p:cNvPicPr>
            <a:picLocks noChangeAspect="1"/>
          </p:cNvPicPr>
          <p:nvPr/>
        </p:nvPicPr>
        <p:blipFill>
          <a:blip r:embed="rId3"/>
          <a:stretch>
            <a:fillRect/>
          </a:stretch>
        </p:blipFill>
        <p:spPr>
          <a:xfrm>
            <a:off x="6309360" y="1371600"/>
            <a:ext cx="5029200" cy="37719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274320"/>
          </a:xfrm>
          <a:prstGeom prst="rect">
            <a:avLst/>
          </a:prstGeom>
          <a:noFill/>
        </p:spPr>
        <p:txBody>
          <a:bodyPr wrap="square" lIns="0" tIns="0" rIns="0" bIns="0">
            <a:spAutoFit/>
          </a:bodyPr>
          <a:lstStyle/>
          <a:p>
            <a:pPr>
              <a:defRPr sz="1000" b="1">
                <a:solidFill>
                  <a:srgbClr val="2563EB"/>
                </a:solidFill>
              </a:defRPr>
            </a:pPr>
            <a:r>
              <a:t>ACADEMIC REVIEW 2 | DWDM</a:t>
            </a:r>
          </a:p>
        </p:txBody>
      </p:sp>
      <p:sp>
        <p:nvSpPr>
          <p:cNvPr id="4" name="TextBox 3"/>
          <p:cNvSpPr txBox="1"/>
          <p:nvPr/>
        </p:nvSpPr>
        <p:spPr>
          <a:xfrm>
            <a:off x="731520" y="530352"/>
            <a:ext cx="10698480" cy="548640"/>
          </a:xfrm>
          <a:prstGeom prst="rect">
            <a:avLst/>
          </a:prstGeom>
          <a:noFill/>
        </p:spPr>
        <p:txBody>
          <a:bodyPr wrap="square" lIns="0" tIns="0" rIns="0" bIns="0">
            <a:spAutoFit/>
          </a:bodyPr>
          <a:lstStyle/>
          <a:p>
            <a:pPr>
              <a:defRPr sz="2200" b="1">
                <a:solidFill>
                  <a:srgbClr val="0F172A"/>
                </a:solidFill>
              </a:defRPr>
            </a:pPr>
            <a:r>
              <a:t>Borrower Segmentation: Optimal K Determination (Elbow &amp; Silhouette)</a:t>
            </a:r>
          </a:p>
        </p:txBody>
      </p:sp>
      <p:sp>
        <p:nvSpPr>
          <p:cNvPr id="5" name="Rounded Rectangle 4"/>
          <p:cNvSpPr/>
          <p:nvPr/>
        </p:nvSpPr>
        <p:spPr>
          <a:xfrm>
            <a:off x="731520" y="1280160"/>
            <a:ext cx="6217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lbow_silhouette.png"/>
          <p:cNvPicPr>
            <a:picLocks noChangeAspect="1"/>
          </p:cNvPicPr>
          <p:nvPr/>
        </p:nvPicPr>
        <p:blipFill>
          <a:blip r:embed="rId2"/>
          <a:stretch>
            <a:fillRect/>
          </a:stretch>
        </p:blipFill>
        <p:spPr>
          <a:xfrm>
            <a:off x="822960" y="1645920"/>
            <a:ext cx="6035040" cy="2263140"/>
          </a:xfrm>
          <a:prstGeom prst="rect">
            <a:avLst/>
          </a:prstGeom>
        </p:spPr>
      </p:pic>
      <p:sp>
        <p:nvSpPr>
          <p:cNvPr id="7" name="Rounded Rectangle 6"/>
          <p:cNvSpPr/>
          <p:nvPr/>
        </p:nvSpPr>
        <p:spPr>
          <a:xfrm>
            <a:off x="7223760" y="1280160"/>
            <a:ext cx="420624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1463040"/>
            <a:ext cx="3840480" cy="4572000"/>
          </a:xfrm>
          <a:prstGeom prst="rect">
            <a:avLst/>
          </a:prstGeom>
          <a:noFill/>
        </p:spPr>
        <p:txBody>
          <a:bodyPr wrap="square">
            <a:spAutoFit/>
          </a:bodyPr>
          <a:lstStyle/>
          <a:p>
            <a:pPr>
              <a:spcAft>
                <a:spcPts val="1400"/>
              </a:spcAft>
              <a:defRPr sz="1600" b="1">
                <a:solidFill>
                  <a:srgbClr val="0F172A"/>
                </a:solidFill>
              </a:defRPr>
            </a:pPr>
            <a:r>
              <a:t>Unsupervised Methodology</a:t>
            </a:r>
          </a:p>
          <a:p>
            <a:pPr>
              <a:spcAft>
                <a:spcPts val="1000"/>
              </a:spcAft>
              <a:defRPr sz="1100">
                <a:solidFill>
                  <a:srgbClr val="334155"/>
                </a:solidFill>
              </a:defRPr>
            </a:pPr>
            <a:r>
              <a:t>• Clustering Algorithm: K-Means clustering (Euclidean distance on scaled features).</a:t>
            </a:r>
          </a:p>
          <a:p>
            <a:pPr>
              <a:spcAft>
                <a:spcPts val="1000"/>
              </a:spcAft>
              <a:defRPr sz="1100">
                <a:solidFill>
                  <a:srgbClr val="334155"/>
                </a:solidFill>
              </a:defRPr>
            </a:pPr>
            <a:r>
              <a:t>• Features Clustered: Income, CreditScore, LoanAmount, DTIRatio, MonthsEmployed.</a:t>
            </a:r>
          </a:p>
          <a:p>
            <a:pPr>
              <a:spcAft>
                <a:spcPts val="1000"/>
              </a:spcAft>
              <a:defRPr sz="1100">
                <a:solidFill>
                  <a:srgbClr val="334155"/>
                </a:solidFill>
              </a:defRPr>
            </a:pPr>
            <a:r>
              <a:t>• Elbow Curve Inflection: Inertia drops sharply from K=2 (212,115) to K=3 (189,245), flattens thereafter.</a:t>
            </a:r>
          </a:p>
          <a:p>
            <a:pPr>
              <a:spcAft>
                <a:spcPts val="1000"/>
              </a:spcAft>
              <a:defRPr sz="1100">
                <a:solidFill>
                  <a:srgbClr val="334155"/>
                </a:solidFill>
              </a:defRPr>
            </a:pPr>
            <a:r>
              <a:t>• Silhouette Analysis: Evaluated cluster cohesion across K=2 to 6; K=3 provides optimal cohesion and distinctness.</a:t>
            </a:r>
          </a:p>
          <a:p>
            <a:pPr>
              <a:spcAft>
                <a:spcPts val="1000"/>
              </a:spcAft>
              <a:defRPr sz="1100">
                <a:solidFill>
                  <a:srgbClr val="334155"/>
                </a:solidFill>
              </a:defRPr>
            </a:pPr>
            <a:r>
              <a:t>• Commercial Rationale: K=3 naturally segments borrowers into Prime (Low Risk), Standard (Moderate Risk), and Subprime (High Risk).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274320"/>
          </a:xfrm>
          <a:prstGeom prst="rect">
            <a:avLst/>
          </a:prstGeom>
          <a:noFill/>
        </p:spPr>
        <p:txBody>
          <a:bodyPr wrap="square" lIns="0" tIns="0" rIns="0" bIns="0">
            <a:spAutoFit/>
          </a:bodyPr>
          <a:lstStyle/>
          <a:p>
            <a:pPr>
              <a:defRPr sz="1000" b="1">
                <a:solidFill>
                  <a:srgbClr val="2563EB"/>
                </a:solidFill>
              </a:defRPr>
            </a:pPr>
            <a:r>
              <a:t>ACADEMIC REVIEW 2 | DWDM</a:t>
            </a:r>
          </a:p>
        </p:txBody>
      </p:sp>
      <p:sp>
        <p:nvSpPr>
          <p:cNvPr id="4" name="TextBox 3"/>
          <p:cNvSpPr txBox="1"/>
          <p:nvPr/>
        </p:nvSpPr>
        <p:spPr>
          <a:xfrm>
            <a:off x="731520" y="530352"/>
            <a:ext cx="10698480" cy="548640"/>
          </a:xfrm>
          <a:prstGeom prst="rect">
            <a:avLst/>
          </a:prstGeom>
          <a:noFill/>
        </p:spPr>
        <p:txBody>
          <a:bodyPr wrap="square" lIns="0" tIns="0" rIns="0" bIns="0">
            <a:spAutoFit/>
          </a:bodyPr>
          <a:lstStyle/>
          <a:p>
            <a:pPr>
              <a:defRPr sz="2200" b="1">
                <a:solidFill>
                  <a:srgbClr val="0F172A"/>
                </a:solidFill>
              </a:defRPr>
            </a:pPr>
            <a:r>
              <a:t>Borrower Risk Profiles ($K=3$) &amp; 2D PCA Risk Space</a:t>
            </a:r>
          </a:p>
        </p:txBody>
      </p:sp>
      <p:sp>
        <p:nvSpPr>
          <p:cNvPr id="5" name="Rounded Rectangle 4"/>
          <p:cNvSpPr/>
          <p:nvPr/>
        </p:nvSpPr>
        <p:spPr>
          <a:xfrm>
            <a:off x="731520" y="1280160"/>
            <a:ext cx="10728655" cy="2377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914400" y="1463040"/>
          <a:ext cx="10362895" cy="1920240"/>
        </p:xfrm>
        <a:graphic>
          <a:graphicData uri="http://schemas.openxmlformats.org/drawingml/2006/table">
            <a:tbl>
              <a:tblPr firstRow="1" bandRow="1">
                <a:tableStyleId>{5C22544A-7EE6-4342-B048-85BDC9FD1C3A}</a:tableStyleId>
              </a:tblPr>
              <a:tblGrid>
                <a:gridCol w="1295361"/>
                <a:gridCol w="1295361"/>
                <a:gridCol w="1295361"/>
                <a:gridCol w="1295361"/>
                <a:gridCol w="1295361"/>
                <a:gridCol w="1295361"/>
                <a:gridCol w="1295361"/>
                <a:gridCol w="1295368"/>
              </a:tblGrid>
              <a:tr h="480060">
                <a:tc>
                  <a:txBody>
                    <a:bodyPr/>
                    <a:lstStyle/>
                    <a:p>
                      <a:pPr algn="ctr">
                        <a:defRPr sz="1100" b="1">
                          <a:solidFill>
                            <a:srgbClr val="FFFFFF"/>
                          </a:solidFill>
                        </a:defRPr>
                      </a:pPr>
                      <a:r>
                        <a:t>Cluster ID</a:t>
                      </a:r>
                    </a:p>
                  </a:txBody>
                  <a:tcPr>
                    <a:solidFill>
                      <a:srgbClr val="0F172A"/>
                    </a:solidFill>
                  </a:tcPr>
                </a:tc>
                <a:tc>
                  <a:txBody>
                    <a:bodyPr/>
                    <a:lstStyle/>
                    <a:p>
                      <a:pPr algn="ctr">
                        <a:defRPr sz="1100" b="1">
                          <a:solidFill>
                            <a:srgbClr val="FFFFFF"/>
                          </a:solidFill>
                        </a:defRPr>
                      </a:pPr>
                      <a:r>
                        <a:t>Risk Tier</a:t>
                      </a:r>
                    </a:p>
                  </a:txBody>
                  <a:tcPr>
                    <a:solidFill>
                      <a:srgbClr val="0F172A"/>
                    </a:solidFill>
                  </a:tcPr>
                </a:tc>
                <a:tc>
                  <a:txBody>
                    <a:bodyPr/>
                    <a:lstStyle/>
                    <a:p>
                      <a:pPr algn="ctr">
                        <a:defRPr sz="1100" b="1">
                          <a:solidFill>
                            <a:srgbClr val="FFFFFF"/>
                          </a:solidFill>
                        </a:defRPr>
                      </a:pPr>
                      <a:r>
                        <a:t>Borrower Count</a:t>
                      </a:r>
                    </a:p>
                  </a:txBody>
                  <a:tcPr>
                    <a:solidFill>
                      <a:srgbClr val="0F172A"/>
                    </a:solidFill>
                  </a:tcPr>
                </a:tc>
                <a:tc>
                  <a:txBody>
                    <a:bodyPr/>
                    <a:lstStyle/>
                    <a:p>
                      <a:pPr algn="ctr">
                        <a:defRPr sz="1100" b="1">
                          <a:solidFill>
                            <a:srgbClr val="FFFFFF"/>
                          </a:solidFill>
                        </a:defRPr>
                      </a:pPr>
                      <a:r>
                        <a:t>Portfolio %</a:t>
                      </a:r>
                    </a:p>
                  </a:txBody>
                  <a:tcPr>
                    <a:solidFill>
                      <a:srgbClr val="0F172A"/>
                    </a:solidFill>
                  </a:tcPr>
                </a:tc>
                <a:tc>
                  <a:txBody>
                    <a:bodyPr/>
                    <a:lstStyle/>
                    <a:p>
                      <a:pPr algn="ctr">
                        <a:defRPr sz="1100" b="1">
                          <a:solidFill>
                            <a:srgbClr val="FFFFFF"/>
                          </a:solidFill>
                        </a:defRPr>
                      </a:pPr>
                      <a:r>
                        <a:t>Avg Credit</a:t>
                      </a:r>
                    </a:p>
                  </a:txBody>
                  <a:tcPr>
                    <a:solidFill>
                      <a:srgbClr val="0F172A"/>
                    </a:solidFill>
                  </a:tcPr>
                </a:tc>
                <a:tc>
                  <a:txBody>
                    <a:bodyPr/>
                    <a:lstStyle/>
                    <a:p>
                      <a:pPr algn="ctr">
                        <a:defRPr sz="1100" b="1">
                          <a:solidFill>
                            <a:srgbClr val="FFFFFF"/>
                          </a:solidFill>
                        </a:defRPr>
                      </a:pPr>
                      <a:r>
                        <a:t>Avg Income</a:t>
                      </a:r>
                    </a:p>
                  </a:txBody>
                  <a:tcPr>
                    <a:solidFill>
                      <a:srgbClr val="0F172A"/>
                    </a:solidFill>
                  </a:tcPr>
                </a:tc>
                <a:tc>
                  <a:txBody>
                    <a:bodyPr/>
                    <a:lstStyle/>
                    <a:p>
                      <a:pPr algn="ctr">
                        <a:defRPr sz="1100" b="1">
                          <a:solidFill>
                            <a:srgbClr val="FFFFFF"/>
                          </a:solidFill>
                        </a:defRPr>
                      </a:pPr>
                      <a:r>
                        <a:t>Avg Employment</a:t>
                      </a:r>
                    </a:p>
                  </a:txBody>
                  <a:tcPr>
                    <a:solidFill>
                      <a:srgbClr val="0F172A"/>
                    </a:solidFill>
                  </a:tcPr>
                </a:tc>
                <a:tc>
                  <a:txBody>
                    <a:bodyPr/>
                    <a:lstStyle/>
                    <a:p>
                      <a:pPr algn="ctr">
                        <a:defRPr sz="1100" b="1">
                          <a:solidFill>
                            <a:srgbClr val="FFFFFF"/>
                          </a:solidFill>
                        </a:defRPr>
                      </a:pPr>
                      <a:r>
                        <a:t>Default Rate</a:t>
                      </a:r>
                    </a:p>
                  </a:txBody>
                  <a:tcPr>
                    <a:solidFill>
                      <a:srgbClr val="0F172A"/>
                    </a:solidFill>
                  </a:tcPr>
                </a:tc>
              </a:tr>
              <a:tr h="480060">
                <a:tc>
                  <a:txBody>
                    <a:bodyPr/>
                    <a:lstStyle/>
                    <a:p>
                      <a:pPr algn="ctr">
                        <a:defRPr sz="1000" b="0"/>
                      </a:pPr>
                      <a:r>
                        <a:t>Cluster 2</a:t>
                      </a:r>
                    </a:p>
                  </a:txBody>
                  <a:tcPr>
                    <a:solidFill>
                      <a:srgbClr val="ECFDF5"/>
                    </a:solidFill>
                  </a:tcPr>
                </a:tc>
                <a:tc>
                  <a:txBody>
                    <a:bodyPr/>
                    <a:lstStyle/>
                    <a:p>
                      <a:pPr algn="ctr">
                        <a:defRPr sz="1000" b="1"/>
                      </a:pPr>
                      <a:r>
                        <a:t>Low Risk (Prime)</a:t>
                      </a:r>
                    </a:p>
                  </a:txBody>
                  <a:tcPr>
                    <a:solidFill>
                      <a:srgbClr val="ECFDF5"/>
                    </a:solidFill>
                  </a:tcPr>
                </a:tc>
                <a:tc>
                  <a:txBody>
                    <a:bodyPr/>
                    <a:lstStyle/>
                    <a:p>
                      <a:pPr algn="ctr">
                        <a:defRPr sz="1000" b="0"/>
                      </a:pPr>
                      <a:r>
                        <a:t>18,800</a:t>
                      </a:r>
                    </a:p>
                  </a:txBody>
                  <a:tcPr>
                    <a:solidFill>
                      <a:srgbClr val="ECFDF5"/>
                    </a:solidFill>
                  </a:tcPr>
                </a:tc>
                <a:tc>
                  <a:txBody>
                    <a:bodyPr/>
                    <a:lstStyle/>
                    <a:p>
                      <a:pPr algn="ctr">
                        <a:defRPr sz="1000" b="0"/>
                      </a:pPr>
                      <a:r>
                        <a:t>37.6%</a:t>
                      </a:r>
                    </a:p>
                  </a:txBody>
                  <a:tcPr>
                    <a:solidFill>
                      <a:srgbClr val="ECFDF5"/>
                    </a:solidFill>
                  </a:tcPr>
                </a:tc>
                <a:tc>
                  <a:txBody>
                    <a:bodyPr/>
                    <a:lstStyle/>
                    <a:p>
                      <a:pPr algn="ctr">
                        <a:defRPr sz="1000" b="0"/>
                      </a:pPr>
                      <a:r>
                        <a:t>741.8</a:t>
                      </a:r>
                    </a:p>
                  </a:txBody>
                  <a:tcPr>
                    <a:solidFill>
                      <a:srgbClr val="ECFDF5"/>
                    </a:solidFill>
                  </a:tcPr>
                </a:tc>
                <a:tc>
                  <a:txBody>
                    <a:bodyPr/>
                    <a:lstStyle/>
                    <a:p>
                      <a:pPr algn="ctr">
                        <a:defRPr sz="1000" b="0"/>
                      </a:pPr>
                      <a:r>
                        <a:t>$83,521</a:t>
                      </a:r>
                    </a:p>
                  </a:txBody>
                  <a:tcPr>
                    <a:solidFill>
                      <a:srgbClr val="ECFDF5"/>
                    </a:solidFill>
                  </a:tcPr>
                </a:tc>
                <a:tc>
                  <a:txBody>
                    <a:bodyPr/>
                    <a:lstStyle/>
                    <a:p>
                      <a:pPr algn="ctr">
                        <a:defRPr sz="1000" b="0"/>
                      </a:pPr>
                      <a:r>
                        <a:t>60.7 mos</a:t>
                      </a:r>
                    </a:p>
                  </a:txBody>
                  <a:tcPr>
                    <a:solidFill>
                      <a:srgbClr val="ECFDF5"/>
                    </a:solidFill>
                  </a:tcPr>
                </a:tc>
                <a:tc>
                  <a:txBody>
                    <a:bodyPr/>
                    <a:lstStyle/>
                    <a:p>
                      <a:pPr algn="ctr">
                        <a:defRPr sz="1000" b="1">
                          <a:solidFill>
                            <a:srgbClr val="10B981"/>
                          </a:solidFill>
                        </a:defRPr>
                      </a:pPr>
                      <a:r>
                        <a:t>3.93%</a:t>
                      </a:r>
                    </a:p>
                  </a:txBody>
                  <a:tcPr>
                    <a:solidFill>
                      <a:srgbClr val="ECFDF5"/>
                    </a:solidFill>
                  </a:tcPr>
                </a:tc>
              </a:tr>
              <a:tr h="480060">
                <a:tc>
                  <a:txBody>
                    <a:bodyPr/>
                    <a:lstStyle/>
                    <a:p>
                      <a:pPr algn="ctr">
                        <a:defRPr sz="1000" b="0"/>
                      </a:pPr>
                      <a:r>
                        <a:t>Cluster 1</a:t>
                      </a:r>
                    </a:p>
                  </a:txBody>
                  <a:tcPr>
                    <a:solidFill>
                      <a:srgbClr val="F1F5F9"/>
                    </a:solidFill>
                  </a:tcPr>
                </a:tc>
                <a:tc>
                  <a:txBody>
                    <a:bodyPr/>
                    <a:lstStyle/>
                    <a:p>
                      <a:pPr algn="ctr">
                        <a:defRPr sz="1000" b="1"/>
                      </a:pPr>
                      <a:r>
                        <a:t>Moderate Risk (Standard)</a:t>
                      </a:r>
                    </a:p>
                  </a:txBody>
                  <a:tcPr>
                    <a:solidFill>
                      <a:srgbClr val="F1F5F9"/>
                    </a:solidFill>
                  </a:tcPr>
                </a:tc>
                <a:tc>
                  <a:txBody>
                    <a:bodyPr/>
                    <a:lstStyle/>
                    <a:p>
                      <a:pPr algn="ctr">
                        <a:defRPr sz="1000" b="0"/>
                      </a:pPr>
                      <a:r>
                        <a:t>15,550</a:t>
                      </a:r>
                    </a:p>
                  </a:txBody>
                  <a:tcPr>
                    <a:solidFill>
                      <a:srgbClr val="F1F5F9"/>
                    </a:solidFill>
                  </a:tcPr>
                </a:tc>
                <a:tc>
                  <a:txBody>
                    <a:bodyPr/>
                    <a:lstStyle/>
                    <a:p>
                      <a:pPr algn="ctr">
                        <a:defRPr sz="1000" b="0"/>
                      </a:pPr>
                      <a:r>
                        <a:t>31.1%</a:t>
                      </a:r>
                    </a:p>
                  </a:txBody>
                  <a:tcPr>
                    <a:solidFill>
                      <a:srgbClr val="F1F5F9"/>
                    </a:solidFill>
                  </a:tcPr>
                </a:tc>
                <a:tc>
                  <a:txBody>
                    <a:bodyPr/>
                    <a:lstStyle/>
                    <a:p>
                      <a:pPr algn="ctr">
                        <a:defRPr sz="1000" b="0"/>
                      </a:pPr>
                      <a:r>
                        <a:t>470.8</a:t>
                      </a:r>
                    </a:p>
                  </a:txBody>
                  <a:tcPr>
                    <a:solidFill>
                      <a:srgbClr val="F1F5F9"/>
                    </a:solidFill>
                  </a:tcPr>
                </a:tc>
                <a:tc>
                  <a:txBody>
                    <a:bodyPr/>
                    <a:lstStyle/>
                    <a:p>
                      <a:pPr algn="ctr">
                        <a:defRPr sz="1000" b="0"/>
                      </a:pPr>
                      <a:r>
                        <a:t>$81,775</a:t>
                      </a:r>
                    </a:p>
                  </a:txBody>
                  <a:tcPr>
                    <a:solidFill>
                      <a:srgbClr val="F1F5F9"/>
                    </a:solidFill>
                  </a:tcPr>
                </a:tc>
                <a:tc>
                  <a:txBody>
                    <a:bodyPr/>
                    <a:lstStyle/>
                    <a:p>
                      <a:pPr algn="ctr">
                        <a:defRPr sz="1000" b="0"/>
                      </a:pPr>
                      <a:r>
                        <a:t>91.5 mos</a:t>
                      </a:r>
                    </a:p>
                  </a:txBody>
                  <a:tcPr>
                    <a:solidFill>
                      <a:srgbClr val="F1F5F9"/>
                    </a:solidFill>
                  </a:tcPr>
                </a:tc>
                <a:tc>
                  <a:txBody>
                    <a:bodyPr/>
                    <a:lstStyle/>
                    <a:p>
                      <a:pPr algn="ctr">
                        <a:defRPr sz="1000" b="1">
                          <a:solidFill>
                            <a:srgbClr val="2563EB"/>
                          </a:solidFill>
                        </a:defRPr>
                      </a:pPr>
                      <a:r>
                        <a:t>12.38%</a:t>
                      </a:r>
                    </a:p>
                  </a:txBody>
                  <a:tcPr>
                    <a:solidFill>
                      <a:srgbClr val="F1F5F9"/>
                    </a:solidFill>
                  </a:tcPr>
                </a:tc>
              </a:tr>
              <a:tr h="480060">
                <a:tc>
                  <a:txBody>
                    <a:bodyPr/>
                    <a:lstStyle/>
                    <a:p>
                      <a:pPr algn="ctr">
                        <a:defRPr sz="1000" b="0"/>
                      </a:pPr>
                      <a:r>
                        <a:t>Cluster 0</a:t>
                      </a:r>
                    </a:p>
                  </a:txBody>
                  <a:tcPr>
                    <a:solidFill>
                      <a:srgbClr val="FEF2F2"/>
                    </a:solidFill>
                  </a:tcPr>
                </a:tc>
                <a:tc>
                  <a:txBody>
                    <a:bodyPr/>
                    <a:lstStyle/>
                    <a:p>
                      <a:pPr algn="ctr">
                        <a:defRPr sz="1000" b="1"/>
                      </a:pPr>
                      <a:r>
                        <a:t>High Risk (Subprime)</a:t>
                      </a:r>
                    </a:p>
                  </a:txBody>
                  <a:tcPr>
                    <a:solidFill>
                      <a:srgbClr val="FEF2F2"/>
                    </a:solidFill>
                  </a:tcPr>
                </a:tc>
                <a:tc>
                  <a:txBody>
                    <a:bodyPr/>
                    <a:lstStyle/>
                    <a:p>
                      <a:pPr algn="ctr">
                        <a:defRPr sz="1000" b="0"/>
                      </a:pPr>
                      <a:r>
                        <a:t>15,650</a:t>
                      </a:r>
                    </a:p>
                  </a:txBody>
                  <a:tcPr>
                    <a:solidFill>
                      <a:srgbClr val="FEF2F2"/>
                    </a:solidFill>
                  </a:tcPr>
                </a:tc>
                <a:tc>
                  <a:txBody>
                    <a:bodyPr/>
                    <a:lstStyle/>
                    <a:p>
                      <a:pPr algn="ctr">
                        <a:defRPr sz="1000" b="0"/>
                      </a:pPr>
                      <a:r>
                        <a:t>31.3%</a:t>
                      </a:r>
                    </a:p>
                  </a:txBody>
                  <a:tcPr>
                    <a:solidFill>
                      <a:srgbClr val="FEF2F2"/>
                    </a:solidFill>
                  </a:tcPr>
                </a:tc>
                <a:tc>
                  <a:txBody>
                    <a:bodyPr/>
                    <a:lstStyle/>
                    <a:p>
                      <a:pPr algn="ctr">
                        <a:defRPr sz="1000" b="0"/>
                      </a:pPr>
                      <a:r>
                        <a:t>475.2</a:t>
                      </a:r>
                    </a:p>
                  </a:txBody>
                  <a:tcPr>
                    <a:solidFill>
                      <a:srgbClr val="FEF2F2"/>
                    </a:solidFill>
                  </a:tcPr>
                </a:tc>
                <a:tc>
                  <a:txBody>
                    <a:bodyPr/>
                    <a:lstStyle/>
                    <a:p>
                      <a:pPr algn="ctr">
                        <a:defRPr sz="1000" b="0"/>
                      </a:pPr>
                      <a:r>
                        <a:t>$81,224</a:t>
                      </a:r>
                    </a:p>
                  </a:txBody>
                  <a:tcPr>
                    <a:solidFill>
                      <a:srgbClr val="FEF2F2"/>
                    </a:solidFill>
                  </a:tcPr>
                </a:tc>
                <a:tc>
                  <a:txBody>
                    <a:bodyPr/>
                    <a:lstStyle/>
                    <a:p>
                      <a:pPr algn="ctr">
                        <a:defRPr sz="1000" b="0"/>
                      </a:pPr>
                      <a:r>
                        <a:t>27.0 mos</a:t>
                      </a:r>
                    </a:p>
                  </a:txBody>
                  <a:tcPr>
                    <a:solidFill>
                      <a:srgbClr val="FEF2F2"/>
                    </a:solidFill>
                  </a:tcPr>
                </a:tc>
                <a:tc>
                  <a:txBody>
                    <a:bodyPr/>
                    <a:lstStyle/>
                    <a:p>
                      <a:pPr algn="ctr">
                        <a:defRPr sz="1000" b="1">
                          <a:solidFill>
                            <a:srgbClr val="E11D48"/>
                          </a:solidFill>
                        </a:defRPr>
                      </a:pPr>
                      <a:r>
                        <a:t>20.36%</a:t>
                      </a:r>
                    </a:p>
                  </a:txBody>
                  <a:tcPr>
                    <a:solidFill>
                      <a:srgbClr val="FEF2F2"/>
                    </a:solidFill>
                  </a:tcPr>
                </a:tc>
              </a:tr>
            </a:tbl>
          </a:graphicData>
        </a:graphic>
      </p:graphicFrame>
      <p:sp>
        <p:nvSpPr>
          <p:cNvPr id="7" name="Rounded Rectangle 6"/>
          <p:cNvSpPr/>
          <p:nvPr/>
        </p:nvSpPr>
        <p:spPr>
          <a:xfrm>
            <a:off x="731520" y="3840480"/>
            <a:ext cx="5943600" cy="2560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uster_scatter.png"/>
          <p:cNvPicPr>
            <a:picLocks noChangeAspect="1"/>
          </p:cNvPicPr>
          <p:nvPr/>
        </p:nvPicPr>
        <p:blipFill>
          <a:blip r:embed="rId2"/>
          <a:stretch>
            <a:fillRect/>
          </a:stretch>
        </p:blipFill>
        <p:spPr>
          <a:xfrm>
            <a:off x="822960" y="3931920"/>
            <a:ext cx="5760720" cy="4320540"/>
          </a:xfrm>
          <a:prstGeom prst="rect">
            <a:avLst/>
          </a:prstGeom>
        </p:spPr>
      </p:pic>
      <p:sp>
        <p:nvSpPr>
          <p:cNvPr id="9" name="Rounded Rectangle 8"/>
          <p:cNvSpPr/>
          <p:nvPr/>
        </p:nvSpPr>
        <p:spPr>
          <a:xfrm>
            <a:off x="6858000" y="3840480"/>
            <a:ext cx="4602175" cy="2560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0" y="3977639"/>
            <a:ext cx="4206240" cy="2286000"/>
          </a:xfrm>
          <a:prstGeom prst="rect">
            <a:avLst/>
          </a:prstGeom>
          <a:noFill/>
        </p:spPr>
        <p:txBody>
          <a:bodyPr wrap="square">
            <a:spAutoFit/>
          </a:bodyPr>
          <a:lstStyle/>
          <a:p>
            <a:pPr>
              <a:spcAft>
                <a:spcPts val="800"/>
              </a:spcAft>
              <a:defRPr sz="1400" b="1">
                <a:solidFill>
                  <a:srgbClr val="0F172A"/>
                </a:solidFill>
              </a:defRPr>
            </a:pPr>
            <a:r>
              <a:t>Profile Risk Insights:</a:t>
            </a:r>
          </a:p>
          <a:p>
            <a:pPr>
              <a:spcAft>
                <a:spcPts val="400"/>
              </a:spcAft>
              <a:defRPr sz="1000">
                <a:solidFill>
                  <a:srgbClr val="334155"/>
                </a:solidFill>
              </a:defRPr>
            </a:pPr>
            <a:r>
              <a:t>• Cluster 2 (Prime): High credit score (741.8) results in only a 3.93% default rate.</a:t>
            </a:r>
          </a:p>
          <a:p>
            <a:pPr>
              <a:spcAft>
                <a:spcPts val="400"/>
              </a:spcAft>
              <a:defRPr sz="1000">
                <a:solidFill>
                  <a:srgbClr val="334155"/>
                </a:solidFill>
              </a:defRPr>
            </a:pPr>
            <a:r>
              <a:t>• Cluster 1 (Standard): Mid-tier stability with long employment tenure (91.5 mos) and 12.38% default.</a:t>
            </a:r>
          </a:p>
          <a:p>
            <a:pPr>
              <a:spcAft>
                <a:spcPts val="400"/>
              </a:spcAft>
              <a:defRPr sz="1000">
                <a:solidFill>
                  <a:srgbClr val="334155"/>
                </a:solidFill>
              </a:defRPr>
            </a:pPr>
            <a:r>
              <a:t>• Cluster 0 (Subprime): Short employment (27.0 mos) drives default to 20.36% (over 5x higher than Prime).</a:t>
            </a:r>
          </a:p>
          <a:p>
            <a:pPr>
              <a:spcAft>
                <a:spcPts val="400"/>
              </a:spcAft>
              <a:defRPr sz="1000">
                <a:solidFill>
                  <a:srgbClr val="334155"/>
                </a:solidFill>
              </a:defRPr>
            </a:pPr>
            <a:r>
              <a:t>• PCA Projection confirms distinct spatial separation across financial leverage components.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274320"/>
          </a:xfrm>
          <a:prstGeom prst="rect">
            <a:avLst/>
          </a:prstGeom>
          <a:noFill/>
        </p:spPr>
        <p:txBody>
          <a:bodyPr wrap="square" lIns="0" tIns="0" rIns="0" bIns="0">
            <a:spAutoFit/>
          </a:bodyPr>
          <a:lstStyle/>
          <a:p>
            <a:pPr>
              <a:defRPr sz="1000" b="1">
                <a:solidFill>
                  <a:srgbClr val="2563EB"/>
                </a:solidFill>
              </a:defRPr>
            </a:pPr>
            <a:r>
              <a:t>ACADEMIC REVIEW 2 | DWDM</a:t>
            </a:r>
          </a:p>
        </p:txBody>
      </p:sp>
      <p:sp>
        <p:nvSpPr>
          <p:cNvPr id="4" name="TextBox 3"/>
          <p:cNvSpPr txBox="1"/>
          <p:nvPr/>
        </p:nvSpPr>
        <p:spPr>
          <a:xfrm>
            <a:off x="731520" y="530352"/>
            <a:ext cx="10698480" cy="548640"/>
          </a:xfrm>
          <a:prstGeom prst="rect">
            <a:avLst/>
          </a:prstGeom>
          <a:noFill/>
        </p:spPr>
        <p:txBody>
          <a:bodyPr wrap="square" lIns="0" tIns="0" rIns="0" bIns="0">
            <a:spAutoFit/>
          </a:bodyPr>
          <a:lstStyle/>
          <a:p>
            <a:pPr>
              <a:defRPr sz="2200" b="1">
                <a:solidFill>
                  <a:srgbClr val="0F172A"/>
                </a:solidFill>
              </a:defRPr>
            </a:pPr>
            <a:r>
              <a:t>Association Rule Mining: Methodology &amp; Metric Formulas</a:t>
            </a:r>
          </a:p>
        </p:txBody>
      </p:sp>
      <p:sp>
        <p:nvSpPr>
          <p:cNvPr id="5" name="Rounded Rectangle 4"/>
          <p:cNvSpPr/>
          <p:nvPr/>
        </p:nvSpPr>
        <p:spPr>
          <a:xfrm>
            <a:off x="731520" y="1280160"/>
            <a:ext cx="512064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754880" cy="4572000"/>
          </a:xfrm>
          <a:prstGeom prst="rect">
            <a:avLst/>
          </a:prstGeom>
          <a:noFill/>
        </p:spPr>
        <p:txBody>
          <a:bodyPr wrap="square">
            <a:spAutoFit/>
          </a:bodyPr>
          <a:lstStyle/>
          <a:p>
            <a:pPr>
              <a:spcAft>
                <a:spcPts val="1200"/>
              </a:spcAft>
              <a:defRPr sz="1600" b="1">
                <a:solidFill>
                  <a:srgbClr val="0F172A"/>
                </a:solidFill>
              </a:defRPr>
            </a:pPr>
            <a:r>
              <a:t>Continuous Feature Discretization</a:t>
            </a:r>
          </a:p>
          <a:p>
            <a:pPr>
              <a:spcAft>
                <a:spcPts val="800"/>
              </a:spcAft>
              <a:defRPr sz="1100">
                <a:solidFill>
                  <a:srgbClr val="334155"/>
                </a:solidFill>
              </a:defRPr>
            </a:pPr>
            <a:r>
              <a:t>• Income: Tertiles (Income=Low, Medium, High)</a:t>
            </a:r>
          </a:p>
          <a:p>
            <a:pPr>
              <a:spcAft>
                <a:spcPts val="800"/>
              </a:spcAft>
              <a:defRPr sz="1100">
                <a:solidFill>
                  <a:srgbClr val="334155"/>
                </a:solidFill>
              </a:defRPr>
            </a:pPr>
            <a:r>
              <a:t>• Credit Score: Domain bands: Poor (&lt;580), Fair (580-670), Good (670-740), Excellent (&gt;740)</a:t>
            </a:r>
          </a:p>
          <a:p>
            <a:pPr>
              <a:spcAft>
                <a:spcPts val="800"/>
              </a:spcAft>
              <a:defRPr sz="1100">
                <a:solidFill>
                  <a:srgbClr val="334155"/>
                </a:solidFill>
              </a:defRPr>
            </a:pPr>
            <a:r>
              <a:t>• Debt-to-Income (DTI): Low (&lt;0.30), Medium (0.30-0.50), High (&gt;0.50)</a:t>
            </a:r>
          </a:p>
          <a:p>
            <a:pPr>
              <a:spcAft>
                <a:spcPts val="800"/>
              </a:spcAft>
              <a:defRPr sz="1100">
                <a:solidFill>
                  <a:srgbClr val="334155"/>
                </a:solidFill>
              </a:defRPr>
            </a:pPr>
            <a:r>
              <a:t>• Loan Amount: Tertiles (Small, Medium, Large)</a:t>
            </a:r>
          </a:p>
          <a:p>
            <a:pPr>
              <a:spcAft>
                <a:spcPts val="800"/>
              </a:spcAft>
              <a:defRPr sz="1100">
                <a:solidFill>
                  <a:srgbClr val="334155"/>
                </a:solidFill>
              </a:defRPr>
            </a:pPr>
            <a:r>
              <a:t>• Co-Signer Status: CoSigner=Yes / CoSigner=No</a:t>
            </a:r>
          </a:p>
          <a:p>
            <a:pPr>
              <a:spcAft>
                <a:spcPts val="800"/>
              </a:spcAft>
              <a:defRPr sz="1100">
                <a:solidFill>
                  <a:srgbClr val="334155"/>
                </a:solidFill>
              </a:defRPr>
            </a:pPr>
            <a:r>
              <a:t>• Employment Type: Full-time, Part-time, Self-employed, Unemployed</a:t>
            </a:r>
          </a:p>
          <a:p>
            <a:pPr>
              <a:spcAft>
                <a:spcPts val="800"/>
              </a:spcAft>
              <a:defRPr sz="1100">
                <a:solidFill>
                  <a:srgbClr val="334155"/>
                </a:solidFill>
              </a:defRPr>
            </a:pPr>
            <a:r>
              <a:t>• Target Consequent: Explicitly filtered for Default=Yes</a:t>
            </a:r>
          </a:p>
        </p:txBody>
      </p:sp>
      <p:sp>
        <p:nvSpPr>
          <p:cNvPr id="7" name="Rounded Rectangle 6"/>
          <p:cNvSpPr/>
          <p:nvPr/>
        </p:nvSpPr>
        <p:spPr>
          <a:xfrm>
            <a:off x="6217920" y="1280160"/>
            <a:ext cx="5242255"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463040"/>
            <a:ext cx="4846320" cy="4572000"/>
          </a:xfrm>
          <a:prstGeom prst="rect">
            <a:avLst/>
          </a:prstGeom>
          <a:noFill/>
        </p:spPr>
        <p:txBody>
          <a:bodyPr wrap="square">
            <a:spAutoFit/>
          </a:bodyPr>
          <a:lstStyle/>
          <a:p>
            <a:pPr>
              <a:spcAft>
                <a:spcPts val="1200"/>
              </a:spcAft>
              <a:defRPr sz="1600" b="1">
                <a:solidFill>
                  <a:srgbClr val="0F172A"/>
                </a:solidFill>
              </a:defRPr>
            </a:pPr>
            <a:r>
              <a:t>Association Rule Formulas &amp; Meaning</a:t>
            </a:r>
          </a:p>
          <a:p>
            <a:pPr>
              <a:spcAft>
                <a:spcPts val="1000"/>
              </a:spcAft>
              <a:defRPr sz="1100">
                <a:solidFill>
                  <a:srgbClr val="334155"/>
                </a:solidFill>
              </a:defRPr>
            </a:pPr>
            <a:r>
              <a:t>• Support(A -&gt; B):</a:t>
            </a:r>
            <a:br/>
            <a:r>
              <a:t>   P(A and B)</a:t>
            </a:r>
            <a:br/>
            <a:r>
              <a:t>Frequency of co-occurrence in the portfolio.</a:t>
            </a:r>
            <a:br/>
            <a:r>
              <a:t>(Min threshold set to 0.03 = 3%)</a:t>
            </a:r>
          </a:p>
          <a:p>
            <a:pPr>
              <a:spcAft>
                <a:spcPts val="1000"/>
              </a:spcAft>
              <a:defRPr sz="1100">
                <a:solidFill>
                  <a:srgbClr val="334155"/>
                </a:solidFill>
              </a:defRPr>
            </a:pPr>
            <a:r>
              <a:t>• Confidence(A -&gt; B):</a:t>
            </a:r>
            <a:br/>
            <a:r>
              <a:t>   P(B | A) = Support(A and B) / Support(A)</a:t>
            </a:r>
            <a:br/>
            <a:r>
              <a:t>Conditional probability of Default given the borrower conditions.</a:t>
            </a:r>
            <a:br/>
            <a:r>
              <a:t>(Min threshold set to 0.30 = 30%)</a:t>
            </a:r>
          </a:p>
          <a:p>
            <a:pPr>
              <a:spcAft>
                <a:spcPts val="1000"/>
              </a:spcAft>
              <a:defRPr sz="1100">
                <a:solidFill>
                  <a:srgbClr val="334155"/>
                </a:solidFill>
              </a:defRPr>
            </a:pPr>
            <a:r>
              <a:t>• Lift(A -&gt; B):</a:t>
            </a:r>
            <a:br/>
            <a:r>
              <a:t>   Confidence / P(B)</a:t>
            </a:r>
            <a:br/>
            <a:r>
              <a:t>Measures how many times more likely Default is compared to random chance.</a:t>
            </a:r>
            <a:br/>
            <a:r>
              <a:t>• Lift = 1: Independent</a:t>
            </a:r>
            <a:br/>
            <a:r>
              <a:t>• Lift &gt; 1: Strong positive co-occurrence risk indicator</a:t>
            </a:r>
          </a:p>
          <a:p>
            <a:pPr>
              <a:spcAft>
                <a:spcPts val="1000"/>
              </a:spcAft>
              <a:defRPr sz="1100">
                <a:solidFill>
                  <a:srgbClr val="334155"/>
                </a:solidFill>
              </a:defRPr>
            </a:pPr>
            <a:r>
              <a:t>• Institutional Impact:</a:t>
            </a:r>
            <a:br/>
            <a:r>
              <a:t>   Uncovers multi-condition risk combinations for credit rule engines and underwriting checklists.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274320"/>
          </a:xfrm>
          <a:prstGeom prst="rect">
            <a:avLst/>
          </a:prstGeom>
          <a:noFill/>
        </p:spPr>
        <p:txBody>
          <a:bodyPr wrap="square" lIns="0" tIns="0" rIns="0" bIns="0">
            <a:spAutoFit/>
          </a:bodyPr>
          <a:lstStyle/>
          <a:p>
            <a:pPr>
              <a:defRPr sz="1000" b="1">
                <a:solidFill>
                  <a:srgbClr val="2563EB"/>
                </a:solidFill>
              </a:defRPr>
            </a:pPr>
            <a:r>
              <a:t>ACADEMIC REVIEW 2 | DWDM</a:t>
            </a:r>
          </a:p>
        </p:txBody>
      </p:sp>
      <p:sp>
        <p:nvSpPr>
          <p:cNvPr id="4" name="TextBox 3"/>
          <p:cNvSpPr txBox="1"/>
          <p:nvPr/>
        </p:nvSpPr>
        <p:spPr>
          <a:xfrm>
            <a:off x="731520" y="530352"/>
            <a:ext cx="10698480" cy="548640"/>
          </a:xfrm>
          <a:prstGeom prst="rect">
            <a:avLst/>
          </a:prstGeom>
          <a:noFill/>
        </p:spPr>
        <p:txBody>
          <a:bodyPr wrap="square" lIns="0" tIns="0" rIns="0" bIns="0">
            <a:spAutoFit/>
          </a:bodyPr>
          <a:lstStyle/>
          <a:p>
            <a:pPr>
              <a:defRPr sz="2200" b="1">
                <a:solidFill>
                  <a:srgbClr val="0F172A"/>
                </a:solidFill>
              </a:defRPr>
            </a:pPr>
            <a:r>
              <a:t>Association Rules: Top Risk Patterns (Consequent: Default=Yes)</a:t>
            </a:r>
          </a:p>
        </p:txBody>
      </p:sp>
      <p:sp>
        <p:nvSpPr>
          <p:cNvPr id="5" name="Rounded Rectangle 4"/>
          <p:cNvSpPr/>
          <p:nvPr/>
        </p:nvSpPr>
        <p:spPr>
          <a:xfrm>
            <a:off x="731520" y="1280160"/>
            <a:ext cx="10728655" cy="3840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914400" y="1463040"/>
          <a:ext cx="10362895" cy="3383280"/>
        </p:xfrm>
        <a:graphic>
          <a:graphicData uri="http://schemas.openxmlformats.org/drawingml/2006/table">
            <a:tbl>
              <a:tblPr firstRow="1" bandRow="1">
                <a:tableStyleId>{5C22544A-7EE6-4342-B048-85BDC9FD1C3A}</a:tableStyleId>
              </a:tblPr>
              <a:tblGrid>
                <a:gridCol w="1727149"/>
                <a:gridCol w="1727149"/>
                <a:gridCol w="1727149"/>
                <a:gridCol w="1727149"/>
                <a:gridCol w="1727149"/>
                <a:gridCol w="1727150"/>
              </a:tblGrid>
              <a:tr h="563880">
                <a:tc>
                  <a:txBody>
                    <a:bodyPr/>
                    <a:lstStyle/>
                    <a:p>
                      <a:pPr algn="ctr">
                        <a:defRPr sz="1100" b="1">
                          <a:solidFill>
                            <a:srgbClr val="FFFFFF"/>
                          </a:solidFill>
                        </a:defRPr>
                      </a:pPr>
                      <a:r>
                        <a:t>Rank</a:t>
                      </a:r>
                    </a:p>
                  </a:txBody>
                  <a:tcPr>
                    <a:solidFill>
                      <a:srgbClr val="0F172A"/>
                    </a:solidFill>
                  </a:tcPr>
                </a:tc>
                <a:tc>
                  <a:txBody>
                    <a:bodyPr/>
                    <a:lstStyle/>
                    <a:p>
                      <a:pPr algn="ctr">
                        <a:defRPr sz="1100" b="1">
                          <a:solidFill>
                            <a:srgbClr val="FFFFFF"/>
                          </a:solidFill>
                        </a:defRPr>
                      </a:pPr>
                      <a:r>
                        <a:t>Antecedent Condition (IF...)</a:t>
                      </a:r>
                    </a:p>
                  </a:txBody>
                  <a:tcPr>
                    <a:solidFill>
                      <a:srgbClr val="0F172A"/>
                    </a:solidFill>
                  </a:tcPr>
                </a:tc>
                <a:tc>
                  <a:txBody>
                    <a:bodyPr/>
                    <a:lstStyle/>
                    <a:p>
                      <a:pPr algn="ctr">
                        <a:defRPr sz="1100" b="1">
                          <a:solidFill>
                            <a:srgbClr val="FFFFFF"/>
                          </a:solidFill>
                        </a:defRPr>
                      </a:pPr>
                      <a:r>
                        <a:t>Consequent</a:t>
                      </a:r>
                    </a:p>
                  </a:txBody>
                  <a:tcPr>
                    <a:solidFill>
                      <a:srgbClr val="0F172A"/>
                    </a:solidFill>
                  </a:tcPr>
                </a:tc>
                <a:tc>
                  <a:txBody>
                    <a:bodyPr/>
                    <a:lstStyle/>
                    <a:p>
                      <a:pPr algn="ctr">
                        <a:defRPr sz="1100" b="1">
                          <a:solidFill>
                            <a:srgbClr val="FFFFFF"/>
                          </a:solidFill>
                        </a:defRPr>
                      </a:pPr>
                      <a:r>
                        <a:t>Support</a:t>
                      </a:r>
                    </a:p>
                  </a:txBody>
                  <a:tcPr>
                    <a:solidFill>
                      <a:srgbClr val="0F172A"/>
                    </a:solidFill>
                  </a:tcPr>
                </a:tc>
                <a:tc>
                  <a:txBody>
                    <a:bodyPr/>
                    <a:lstStyle/>
                    <a:p>
                      <a:pPr algn="ctr">
                        <a:defRPr sz="1100" b="1">
                          <a:solidFill>
                            <a:srgbClr val="FFFFFF"/>
                          </a:solidFill>
                        </a:defRPr>
                      </a:pPr>
                      <a:r>
                        <a:t>Confidence</a:t>
                      </a:r>
                    </a:p>
                  </a:txBody>
                  <a:tcPr>
                    <a:solidFill>
                      <a:srgbClr val="0F172A"/>
                    </a:solidFill>
                  </a:tcPr>
                </a:tc>
                <a:tc>
                  <a:txBody>
                    <a:bodyPr/>
                    <a:lstStyle/>
                    <a:p>
                      <a:pPr algn="ctr">
                        <a:defRPr sz="1100" b="1">
                          <a:solidFill>
                            <a:srgbClr val="FFFFFF"/>
                          </a:solidFill>
                        </a:defRPr>
                      </a:pPr>
                      <a:r>
                        <a:t>Lift Ratio</a:t>
                      </a:r>
                    </a:p>
                  </a:txBody>
                  <a:tcPr>
                    <a:solidFill>
                      <a:srgbClr val="0F172A"/>
                    </a:solidFill>
                  </a:tcPr>
                </a:tc>
              </a:tr>
              <a:tr h="563880">
                <a:tc>
                  <a:txBody>
                    <a:bodyPr/>
                    <a:lstStyle/>
                    <a:p>
                      <a:pPr algn="ctr">
                        <a:defRPr sz="1000" b="1"/>
                      </a:pPr>
                      <a:r>
                        <a:t>1</a:t>
                      </a:r>
                    </a:p>
                  </a:txBody>
                  <a:tcPr>
                    <a:solidFill>
                      <a:srgbClr val="EEF2FF"/>
                    </a:solidFill>
                  </a:tcPr>
                </a:tc>
                <a:tc>
                  <a:txBody>
                    <a:bodyPr/>
                    <a:lstStyle/>
                    <a:p>
                      <a:pPr algn="l">
                        <a:defRPr sz="1000" b="0"/>
                      </a:pPr>
                      <a:r>
                        <a:t>Income=Low, CreditScore=Poor, LoanAmount=Large</a:t>
                      </a:r>
                    </a:p>
                  </a:txBody>
                  <a:tcPr>
                    <a:solidFill>
                      <a:srgbClr val="EEF2FF"/>
                    </a:solidFill>
                  </a:tcPr>
                </a:tc>
                <a:tc>
                  <a:txBody>
                    <a:bodyPr/>
                    <a:lstStyle/>
                    <a:p>
                      <a:pPr algn="ctr">
                        <a:defRPr sz="1000" b="0"/>
                      </a:pPr>
                      <a:r>
                        <a:t>Default=Yes</a:t>
                      </a:r>
                    </a:p>
                  </a:txBody>
                  <a:tcPr>
                    <a:solidFill>
                      <a:srgbClr val="EEF2FF"/>
                    </a:solidFill>
                  </a:tcPr>
                </a:tc>
                <a:tc>
                  <a:txBody>
                    <a:bodyPr/>
                    <a:lstStyle/>
                    <a:p>
                      <a:pPr algn="ctr">
                        <a:defRPr sz="1000" b="0"/>
                      </a:pPr>
                      <a:r>
                        <a:t>3.94%</a:t>
                      </a:r>
                    </a:p>
                  </a:txBody>
                  <a:tcPr>
                    <a:solidFill>
                      <a:srgbClr val="EEF2FF"/>
                    </a:solidFill>
                  </a:tcPr>
                </a:tc>
                <a:tc>
                  <a:txBody>
                    <a:bodyPr/>
                    <a:lstStyle/>
                    <a:p>
                      <a:pPr algn="ctr">
                        <a:defRPr sz="1000" b="1"/>
                      </a:pPr>
                      <a:r>
                        <a:t>66.93%</a:t>
                      </a:r>
                    </a:p>
                  </a:txBody>
                  <a:tcPr>
                    <a:solidFill>
                      <a:srgbClr val="EEF2FF"/>
                    </a:solidFill>
                  </a:tcPr>
                </a:tc>
                <a:tc>
                  <a:txBody>
                    <a:bodyPr/>
                    <a:lstStyle/>
                    <a:p>
                      <a:pPr algn="ctr">
                        <a:defRPr sz="1000" b="1">
                          <a:solidFill>
                            <a:srgbClr val="2563EB"/>
                          </a:solidFill>
                        </a:defRPr>
                      </a:pPr>
                      <a:r>
                        <a:t>5.69x</a:t>
                      </a:r>
                    </a:p>
                  </a:txBody>
                  <a:tcPr>
                    <a:solidFill>
                      <a:srgbClr val="EEF2FF"/>
                    </a:solidFill>
                  </a:tcPr>
                </a:tc>
              </a:tr>
              <a:tr h="563880">
                <a:tc>
                  <a:txBody>
                    <a:bodyPr/>
                    <a:lstStyle/>
                    <a:p>
                      <a:pPr algn="ctr">
                        <a:defRPr sz="1000" b="1"/>
                      </a:pPr>
                      <a:r>
                        <a:t>2</a:t>
                      </a:r>
                    </a:p>
                  </a:txBody>
                  <a:tcPr>
                    <a:solidFill>
                      <a:srgbClr val="F1F5F9"/>
                    </a:solidFill>
                  </a:tcPr>
                </a:tc>
                <a:tc>
                  <a:txBody>
                    <a:bodyPr/>
                    <a:lstStyle/>
                    <a:p>
                      <a:pPr algn="l">
                        <a:defRPr sz="1000" b="0"/>
                      </a:pPr>
                      <a:r>
                        <a:t>Income=Low, DTIRatio=High, LoanAmount=Large</a:t>
                      </a:r>
                    </a:p>
                  </a:txBody>
                  <a:tcPr>
                    <a:solidFill>
                      <a:srgbClr val="F1F5F9"/>
                    </a:solidFill>
                  </a:tcPr>
                </a:tc>
                <a:tc>
                  <a:txBody>
                    <a:bodyPr/>
                    <a:lstStyle/>
                    <a:p>
                      <a:pPr algn="ctr">
                        <a:defRPr sz="1000" b="0"/>
                      </a:pPr>
                      <a:r>
                        <a:t>Default=Yes</a:t>
                      </a:r>
                    </a:p>
                  </a:txBody>
                  <a:tcPr>
                    <a:solidFill>
                      <a:srgbClr val="F1F5F9"/>
                    </a:solidFill>
                  </a:tcPr>
                </a:tc>
                <a:tc>
                  <a:txBody>
                    <a:bodyPr/>
                    <a:lstStyle/>
                    <a:p>
                      <a:pPr algn="ctr">
                        <a:defRPr sz="1000" b="0"/>
                      </a:pPr>
                      <a:r>
                        <a:t>3.42%</a:t>
                      </a:r>
                    </a:p>
                  </a:txBody>
                  <a:tcPr>
                    <a:solidFill>
                      <a:srgbClr val="F1F5F9"/>
                    </a:solidFill>
                  </a:tcPr>
                </a:tc>
                <a:tc>
                  <a:txBody>
                    <a:bodyPr/>
                    <a:lstStyle/>
                    <a:p>
                      <a:pPr algn="ctr">
                        <a:defRPr sz="1000" b="1"/>
                      </a:pPr>
                      <a:r>
                        <a:t>60.64%</a:t>
                      </a:r>
                    </a:p>
                  </a:txBody>
                  <a:tcPr>
                    <a:solidFill>
                      <a:srgbClr val="F1F5F9"/>
                    </a:solidFill>
                  </a:tcPr>
                </a:tc>
                <a:tc>
                  <a:txBody>
                    <a:bodyPr/>
                    <a:lstStyle/>
                    <a:p>
                      <a:pPr algn="ctr">
                        <a:defRPr sz="1000" b="1">
                          <a:solidFill>
                            <a:srgbClr val="2563EB"/>
                          </a:solidFill>
                        </a:defRPr>
                      </a:pPr>
                      <a:r>
                        <a:t>5.16x</a:t>
                      </a:r>
                    </a:p>
                  </a:txBody>
                  <a:tcPr>
                    <a:solidFill>
                      <a:srgbClr val="F1F5F9"/>
                    </a:solidFill>
                  </a:tcPr>
                </a:tc>
              </a:tr>
              <a:tr h="563880">
                <a:tc>
                  <a:txBody>
                    <a:bodyPr/>
                    <a:lstStyle/>
                    <a:p>
                      <a:pPr algn="ctr">
                        <a:defRPr sz="1000" b="1"/>
                      </a:pPr>
                      <a:r>
                        <a:t>3</a:t>
                      </a:r>
                    </a:p>
                  </a:txBody>
                  <a:tcPr>
                    <a:solidFill>
                      <a:srgbClr val="FFFFFF"/>
                    </a:solidFill>
                  </a:tcPr>
                </a:tc>
                <a:tc>
                  <a:txBody>
                    <a:bodyPr/>
                    <a:lstStyle/>
                    <a:p>
                      <a:pPr algn="l">
                        <a:defRPr sz="1000" b="0"/>
                      </a:pPr>
                      <a:r>
                        <a:t>CreditScore=Poor, Income=Low, CoSigner=No, DTIRatio=High</a:t>
                      </a:r>
                    </a:p>
                  </a:txBody>
                  <a:tcPr>
                    <a:solidFill>
                      <a:srgbClr val="FFFFFF"/>
                    </a:solidFill>
                  </a:tcPr>
                </a:tc>
                <a:tc>
                  <a:txBody>
                    <a:bodyPr/>
                    <a:lstStyle/>
                    <a:p>
                      <a:pPr algn="ctr">
                        <a:defRPr sz="1000" b="0"/>
                      </a:pPr>
                      <a:r>
                        <a:t>Default=Yes</a:t>
                      </a:r>
                    </a:p>
                  </a:txBody>
                  <a:tcPr>
                    <a:solidFill>
                      <a:srgbClr val="FFFFFF"/>
                    </a:solidFill>
                  </a:tcPr>
                </a:tc>
                <a:tc>
                  <a:txBody>
                    <a:bodyPr/>
                    <a:lstStyle/>
                    <a:p>
                      <a:pPr algn="ctr">
                        <a:defRPr sz="1000" b="0"/>
                      </a:pPr>
                      <a:r>
                        <a:t>3.36%</a:t>
                      </a:r>
                    </a:p>
                  </a:txBody>
                  <a:tcPr>
                    <a:solidFill>
                      <a:srgbClr val="FFFFFF"/>
                    </a:solidFill>
                  </a:tcPr>
                </a:tc>
                <a:tc>
                  <a:txBody>
                    <a:bodyPr/>
                    <a:lstStyle/>
                    <a:p>
                      <a:pPr algn="ctr">
                        <a:defRPr sz="1000" b="1"/>
                      </a:pPr>
                      <a:r>
                        <a:t>54.49%</a:t>
                      </a:r>
                    </a:p>
                  </a:txBody>
                  <a:tcPr>
                    <a:solidFill>
                      <a:srgbClr val="FFFFFF"/>
                    </a:solidFill>
                  </a:tcPr>
                </a:tc>
                <a:tc>
                  <a:txBody>
                    <a:bodyPr/>
                    <a:lstStyle/>
                    <a:p>
                      <a:pPr algn="ctr">
                        <a:defRPr sz="1000" b="1">
                          <a:solidFill>
                            <a:srgbClr val="2563EB"/>
                          </a:solidFill>
                        </a:defRPr>
                      </a:pPr>
                      <a:r>
                        <a:t>4.64x</a:t>
                      </a:r>
                    </a:p>
                  </a:txBody>
                  <a:tcPr>
                    <a:solidFill>
                      <a:srgbClr val="FFFFFF"/>
                    </a:solidFill>
                  </a:tcPr>
                </a:tc>
              </a:tr>
              <a:tr h="563880">
                <a:tc>
                  <a:txBody>
                    <a:bodyPr/>
                    <a:lstStyle/>
                    <a:p>
                      <a:pPr algn="ctr">
                        <a:defRPr sz="1000" b="1"/>
                      </a:pPr>
                      <a:r>
                        <a:t>4</a:t>
                      </a:r>
                    </a:p>
                  </a:txBody>
                  <a:tcPr>
                    <a:solidFill>
                      <a:srgbClr val="F1F5F9"/>
                    </a:solidFill>
                  </a:tcPr>
                </a:tc>
                <a:tc>
                  <a:txBody>
                    <a:bodyPr/>
                    <a:lstStyle/>
                    <a:p>
                      <a:pPr algn="l">
                        <a:defRPr sz="1000" b="0"/>
                      </a:pPr>
                      <a:r>
                        <a:t>Income=Low, CoSigner=No, LoanAmount=Large</a:t>
                      </a:r>
                    </a:p>
                  </a:txBody>
                  <a:tcPr>
                    <a:solidFill>
                      <a:srgbClr val="F1F5F9"/>
                    </a:solidFill>
                  </a:tcPr>
                </a:tc>
                <a:tc>
                  <a:txBody>
                    <a:bodyPr/>
                    <a:lstStyle/>
                    <a:p>
                      <a:pPr algn="ctr">
                        <a:defRPr sz="1000" b="0"/>
                      </a:pPr>
                      <a:r>
                        <a:t>Default=Yes</a:t>
                      </a:r>
                    </a:p>
                  </a:txBody>
                  <a:tcPr>
                    <a:solidFill>
                      <a:srgbClr val="F1F5F9"/>
                    </a:solidFill>
                  </a:tcPr>
                </a:tc>
                <a:tc>
                  <a:txBody>
                    <a:bodyPr/>
                    <a:lstStyle/>
                    <a:p>
                      <a:pPr algn="ctr">
                        <a:defRPr sz="1000" b="0"/>
                      </a:pPr>
                      <a:r>
                        <a:t>4.19%</a:t>
                      </a:r>
                    </a:p>
                  </a:txBody>
                  <a:tcPr>
                    <a:solidFill>
                      <a:srgbClr val="F1F5F9"/>
                    </a:solidFill>
                  </a:tcPr>
                </a:tc>
                <a:tc>
                  <a:txBody>
                    <a:bodyPr/>
                    <a:lstStyle/>
                    <a:p>
                      <a:pPr algn="ctr">
                        <a:defRPr sz="1000" b="1"/>
                      </a:pPr>
                      <a:r>
                        <a:t>52.46%</a:t>
                      </a:r>
                    </a:p>
                  </a:txBody>
                  <a:tcPr>
                    <a:solidFill>
                      <a:srgbClr val="F1F5F9"/>
                    </a:solidFill>
                  </a:tcPr>
                </a:tc>
                <a:tc>
                  <a:txBody>
                    <a:bodyPr/>
                    <a:lstStyle/>
                    <a:p>
                      <a:pPr algn="ctr">
                        <a:defRPr sz="1000" b="1">
                          <a:solidFill>
                            <a:srgbClr val="2563EB"/>
                          </a:solidFill>
                        </a:defRPr>
                      </a:pPr>
                      <a:r>
                        <a:t>4.46x</a:t>
                      </a:r>
                    </a:p>
                  </a:txBody>
                  <a:tcPr>
                    <a:solidFill>
                      <a:srgbClr val="F1F5F9"/>
                    </a:solidFill>
                  </a:tcPr>
                </a:tc>
              </a:tr>
              <a:tr h="563880">
                <a:tc>
                  <a:txBody>
                    <a:bodyPr/>
                    <a:lstStyle/>
                    <a:p>
                      <a:pPr algn="ctr">
                        <a:defRPr sz="1000" b="1"/>
                      </a:pPr>
                      <a:r>
                        <a:t>5</a:t>
                      </a:r>
                    </a:p>
                  </a:txBody>
                  <a:tcPr>
                    <a:solidFill>
                      <a:srgbClr val="FFFFFF"/>
                    </a:solidFill>
                  </a:tcPr>
                </a:tc>
                <a:tc>
                  <a:txBody>
                    <a:bodyPr/>
                    <a:lstStyle/>
                    <a:p>
                      <a:pPr algn="l">
                        <a:defRPr sz="1000" b="0"/>
                      </a:pPr>
                      <a:r>
                        <a:t>Income=Low, CreditScore=Poor, DTIRatio=High</a:t>
                      </a:r>
                    </a:p>
                  </a:txBody>
                  <a:tcPr>
                    <a:solidFill>
                      <a:srgbClr val="FFFFFF"/>
                    </a:solidFill>
                  </a:tcPr>
                </a:tc>
                <a:tc>
                  <a:txBody>
                    <a:bodyPr/>
                    <a:lstStyle/>
                    <a:p>
                      <a:pPr algn="ctr">
                        <a:defRPr sz="1000" b="0"/>
                      </a:pPr>
                      <a:r>
                        <a:t>Default=Yes</a:t>
                      </a:r>
                    </a:p>
                  </a:txBody>
                  <a:tcPr>
                    <a:solidFill>
                      <a:srgbClr val="FFFFFF"/>
                    </a:solidFill>
                  </a:tcPr>
                </a:tc>
                <a:tc>
                  <a:txBody>
                    <a:bodyPr/>
                    <a:lstStyle/>
                    <a:p>
                      <a:pPr algn="ctr">
                        <a:defRPr sz="1000" b="0"/>
                      </a:pPr>
                      <a:r>
                        <a:t>4.43%</a:t>
                      </a:r>
                    </a:p>
                  </a:txBody>
                  <a:tcPr>
                    <a:solidFill>
                      <a:srgbClr val="FFFFFF"/>
                    </a:solidFill>
                  </a:tcPr>
                </a:tc>
                <a:tc>
                  <a:txBody>
                    <a:bodyPr/>
                    <a:lstStyle/>
                    <a:p>
                      <a:pPr algn="ctr">
                        <a:defRPr sz="1000" b="1"/>
                      </a:pPr>
                      <a:r>
                        <a:t>50.15%</a:t>
                      </a:r>
                    </a:p>
                  </a:txBody>
                  <a:tcPr>
                    <a:solidFill>
                      <a:srgbClr val="FFFFFF"/>
                    </a:solidFill>
                  </a:tcPr>
                </a:tc>
                <a:tc>
                  <a:txBody>
                    <a:bodyPr/>
                    <a:lstStyle/>
                    <a:p>
                      <a:pPr algn="ctr">
                        <a:defRPr sz="1000" b="1">
                          <a:solidFill>
                            <a:srgbClr val="2563EB"/>
                          </a:solidFill>
                        </a:defRPr>
                      </a:pPr>
                      <a:r>
                        <a:t>4.27x</a:t>
                      </a:r>
                    </a:p>
                  </a:txBody>
                  <a:tcPr>
                    <a:solidFill>
                      <a:srgbClr val="FFFFFF"/>
                    </a:solidFill>
                  </a:tcPr>
                </a:tc>
              </a:tr>
            </a:tbl>
          </a:graphicData>
        </a:graphic>
      </p:graphicFrame>
      <p:sp>
        <p:nvSpPr>
          <p:cNvPr id="7" name="Rounded Rectangle 6"/>
          <p:cNvSpPr/>
          <p:nvPr/>
        </p:nvSpPr>
        <p:spPr>
          <a:xfrm>
            <a:off x="731520" y="5303520"/>
            <a:ext cx="10728655" cy="1097280"/>
          </a:xfrm>
          <a:prstGeom prst="roundRect">
            <a:avLst/>
          </a:prstGeom>
          <a:solidFill>
            <a:srgbClr val="FEF2F2"/>
          </a:solidFill>
          <a:ln w="1270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349240"/>
            <a:ext cx="10362895" cy="1005840"/>
          </a:xfrm>
          <a:prstGeom prst="rect">
            <a:avLst/>
          </a:prstGeom>
          <a:noFill/>
        </p:spPr>
        <p:txBody>
          <a:bodyPr wrap="square">
            <a:spAutoFit/>
          </a:bodyPr>
          <a:lstStyle/>
          <a:p>
            <a:pPr>
              <a:defRPr sz="1200" b="1">
                <a:solidFill>
                  <a:srgbClr val="BE123C"/>
                </a:solidFill>
              </a:defRPr>
            </a:pPr>
            <a:r>
              <a:t>Key Underwriting Insights:</a:t>
            </a:r>
          </a:p>
          <a:p>
            <a:pPr>
              <a:defRPr sz="1000">
                <a:solidFill>
                  <a:srgbClr val="334155"/>
                </a:solidFill>
              </a:defRPr>
            </a:pPr>
            <a:r>
              <a:t>• Toxic Combination: Low Income + Poor Credit + Large Loan Amount increases default rate to 66.93% (5.69x baseline risk).</a:t>
            </a:r>
          </a:p>
          <a:p>
            <a:pPr>
              <a:defRPr sz="1000">
                <a:solidFill>
                  <a:srgbClr val="334155"/>
                </a:solidFill>
              </a:defRPr>
            </a:pPr>
            <a:r>
              <a:t>• Co-Signer Impact: Absence of a co-signer under high DTI drives default confidence to 54.49% (Lift = 4.64x).</a:t>
            </a:r>
          </a:p>
          <a:p>
            <a:pPr>
              <a:defRPr sz="1000">
                <a:solidFill>
                  <a:srgbClr val="334155"/>
                </a:solidFill>
              </a:defRPr>
            </a:pPr>
            <a:r>
              <a:t>• Policy Action: Loans matching Top 3 rules should be automatically flagged for mandatory collateral or outright decline.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274320"/>
          </a:xfrm>
          <a:prstGeom prst="rect">
            <a:avLst/>
          </a:prstGeom>
          <a:noFill/>
        </p:spPr>
        <p:txBody>
          <a:bodyPr wrap="square" lIns="0" tIns="0" rIns="0" bIns="0">
            <a:spAutoFit/>
          </a:bodyPr>
          <a:lstStyle/>
          <a:p>
            <a:pPr>
              <a:defRPr sz="1000" b="1">
                <a:solidFill>
                  <a:srgbClr val="2563EB"/>
                </a:solidFill>
              </a:defRPr>
            </a:pPr>
            <a:r>
              <a:t>ACADEMIC REVIEW 2 | DWDM</a:t>
            </a:r>
          </a:p>
        </p:txBody>
      </p:sp>
      <p:sp>
        <p:nvSpPr>
          <p:cNvPr id="4" name="TextBox 3"/>
          <p:cNvSpPr txBox="1"/>
          <p:nvPr/>
        </p:nvSpPr>
        <p:spPr>
          <a:xfrm>
            <a:off x="731520" y="530352"/>
            <a:ext cx="10698480" cy="548640"/>
          </a:xfrm>
          <a:prstGeom prst="rect">
            <a:avLst/>
          </a:prstGeom>
          <a:noFill/>
        </p:spPr>
        <p:txBody>
          <a:bodyPr wrap="square" lIns="0" tIns="0" rIns="0" bIns="0">
            <a:spAutoFit/>
          </a:bodyPr>
          <a:lstStyle/>
          <a:p>
            <a:pPr>
              <a:defRPr sz="2200" b="1">
                <a:solidFill>
                  <a:srgbClr val="0F172A"/>
                </a:solidFill>
              </a:defRPr>
            </a:pPr>
            <a:r>
              <a:t>Prediction Engine: Continuous Default Probability Scoring</a:t>
            </a:r>
          </a:p>
        </p:txBody>
      </p:sp>
      <p:sp>
        <p:nvSpPr>
          <p:cNvPr id="5" name="Rounded Rectangle 4"/>
          <p:cNvSpPr/>
          <p:nvPr/>
        </p:nvSpPr>
        <p:spPr>
          <a:xfrm>
            <a:off x="731520" y="1280160"/>
            <a:ext cx="548640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5120640" cy="4572000"/>
          </a:xfrm>
          <a:prstGeom prst="rect">
            <a:avLst/>
          </a:prstGeom>
          <a:noFill/>
        </p:spPr>
        <p:txBody>
          <a:bodyPr wrap="square">
            <a:spAutoFit/>
          </a:bodyPr>
          <a:lstStyle/>
          <a:p>
            <a:pPr>
              <a:spcAft>
                <a:spcPts val="1200"/>
              </a:spcAft>
              <a:defRPr sz="1600" b="1">
                <a:solidFill>
                  <a:srgbClr val="0F172A"/>
                </a:solidFill>
              </a:defRPr>
            </a:pPr>
            <a:r>
              <a:t>4-Tier Credit Risk Policy Matrix</a:t>
            </a:r>
          </a:p>
          <a:p>
            <a:pPr>
              <a:defRPr sz="1100" b="1">
                <a:solidFill>
                  <a:srgbClr val="10B981"/>
                </a:solidFill>
              </a:defRPr>
            </a:pPr>
            <a:r>
              <a:t>• Low Risk (P &lt; 20%):</a:t>
            </a:r>
          </a:p>
          <a:p>
            <a:pPr>
              <a:spcAft>
                <a:spcPts val="800"/>
              </a:spcAft>
              <a:defRPr sz="1000">
                <a:solidFill>
                  <a:srgbClr val="334155"/>
                </a:solidFill>
              </a:defRPr>
            </a:pPr>
            <a:r>
              <a:t>    Fast-track approval; Prime interest rate (4.5% - 7.5% APR).</a:t>
            </a:r>
          </a:p>
          <a:p>
            <a:pPr>
              <a:defRPr sz="1100" b="1">
                <a:solidFill>
                  <a:srgbClr val="2563EB"/>
                </a:solidFill>
              </a:defRPr>
            </a:pPr>
            <a:r>
              <a:t>• Moderate Risk (20% &lt;= P &lt; 45%):</a:t>
            </a:r>
          </a:p>
          <a:p>
            <a:pPr>
              <a:spcAft>
                <a:spcPts val="800"/>
              </a:spcAft>
              <a:defRPr sz="1000">
                <a:solidFill>
                  <a:srgbClr val="334155"/>
                </a:solidFill>
              </a:defRPr>
            </a:pPr>
            <a:r>
              <a:t>    Standard review; income verification required (8.0% - 13.5% APR).</a:t>
            </a:r>
          </a:p>
          <a:p>
            <a:pPr>
              <a:defRPr sz="1100" b="1">
                <a:solidFill>
                  <a:srgbClr val="D97706"/>
                </a:solidFill>
              </a:defRPr>
            </a:pPr>
            <a:r>
              <a:t>• High Risk (45% &lt;= P &lt; 70%):</a:t>
            </a:r>
          </a:p>
          <a:p>
            <a:pPr>
              <a:spcAft>
                <a:spcPts val="800"/>
              </a:spcAft>
              <a:defRPr sz="1000">
                <a:solidFill>
                  <a:srgbClr val="334155"/>
                </a:solidFill>
              </a:defRPr>
            </a:pPr>
            <a:r>
              <a:t>    Conditional approval; mandatory co-signer and collateral required.</a:t>
            </a:r>
          </a:p>
          <a:p>
            <a:pPr>
              <a:defRPr sz="1100" b="1">
                <a:solidFill>
                  <a:srgbClr val="E11D48"/>
                </a:solidFill>
              </a:defRPr>
            </a:pPr>
            <a:r>
              <a:t>• Critical Risk (P &gt;= 70%):</a:t>
            </a:r>
          </a:p>
          <a:p>
            <a:pPr>
              <a:spcAft>
                <a:spcPts val="800"/>
              </a:spcAft>
              <a:defRPr sz="1000">
                <a:solidFill>
                  <a:srgbClr val="334155"/>
                </a:solidFill>
              </a:defRPr>
            </a:pPr>
            <a:r>
              <a:t>    Automated decline; risk exceeds institutional lending appetite.</a:t>
            </a:r>
          </a:p>
        </p:txBody>
      </p:sp>
      <p:sp>
        <p:nvSpPr>
          <p:cNvPr id="7" name="Rounded Rectangle 6"/>
          <p:cNvSpPr/>
          <p:nvPr/>
        </p:nvSpPr>
        <p:spPr>
          <a:xfrm>
            <a:off x="6492240" y="1280160"/>
            <a:ext cx="4967935"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1463040"/>
            <a:ext cx="4572000" cy="4572000"/>
          </a:xfrm>
          <a:prstGeom prst="rect">
            <a:avLst/>
          </a:prstGeom>
          <a:noFill/>
        </p:spPr>
        <p:txBody>
          <a:bodyPr wrap="square">
            <a:spAutoFit/>
          </a:bodyPr>
          <a:lstStyle/>
          <a:p>
            <a:pPr>
              <a:spcAft>
                <a:spcPts val="1200"/>
              </a:spcAft>
              <a:defRPr sz="1600" b="1">
                <a:solidFill>
                  <a:srgbClr val="0F172A"/>
                </a:solidFill>
              </a:defRPr>
            </a:pPr>
            <a:r>
              <a:t>Engine Calibration &amp; Real-Time Output</a:t>
            </a:r>
          </a:p>
          <a:p>
            <a:pPr>
              <a:spcAft>
                <a:spcPts val="800"/>
              </a:spcAft>
              <a:defRPr sz="1000">
                <a:solidFill>
                  <a:srgbClr val="334155"/>
                </a:solidFill>
              </a:defRPr>
            </a:pPr>
            <a:r>
              <a:t>• Brier Score Loss:  0.0168 (near 0.0 indicates exceptional probability calibration quality).</a:t>
            </a:r>
          </a:p>
          <a:p>
            <a:pPr>
              <a:spcAft>
                <a:spcPts val="800"/>
              </a:spcAft>
              <a:defRPr sz="1000">
                <a:solidFill>
                  <a:srgbClr val="334155"/>
                </a:solidFill>
              </a:defRPr>
            </a:pPr>
            <a:r>
              <a:t>• Model Log Loss:  0.0622 | Test ROC-AUC: 0.9973</a:t>
            </a:r>
          </a:p>
          <a:p>
            <a:pPr>
              <a:spcAft>
                <a:spcPts val="800"/>
              </a:spcAft>
              <a:defRPr sz="1000">
                <a:solidFill>
                  <a:srgbClr val="334155"/>
                </a:solidFill>
              </a:defRPr>
            </a:pPr>
            <a:r>
              <a:t>• Sample Scoring 1 (Prime):  Credit 810, DTI 0.15</a:t>
            </a:r>
            <a:br/>
            <a:r>
              <a:t>-&gt; P(Default=1) = 0.02% (Low Risk Badge)</a:t>
            </a:r>
          </a:p>
          <a:p>
            <a:pPr>
              <a:spcAft>
                <a:spcPts val="800"/>
              </a:spcAft>
              <a:defRPr sz="1000">
                <a:solidFill>
                  <a:srgbClr val="334155"/>
                </a:solidFill>
              </a:defRPr>
            </a:pPr>
            <a:r>
              <a:t>• Sample Scoring 2 (Subprime):  Credit 420, DTI 0.82</a:t>
            </a:r>
            <a:br/>
            <a:r>
              <a:t>-&gt; P(Default=1) = 99.99% (Critical Risk Badge)</a:t>
            </a:r>
          </a:p>
          <a:p>
            <a:pPr>
              <a:spcAft>
                <a:spcPts val="800"/>
              </a:spcAft>
              <a:defRPr sz="1000">
                <a:solidFill>
                  <a:srgbClr val="334155"/>
                </a:solidFill>
              </a:defRPr>
            </a:pPr>
            <a:r>
              <a:t>• Automated Explanations:  Engine isolates explicit risk factors (DTI &gt; 45%, Credit &lt; 600, Unemployed, No Co-Signer).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10698480" cy="274320"/>
          </a:xfrm>
          <a:prstGeom prst="rect">
            <a:avLst/>
          </a:prstGeom>
          <a:noFill/>
        </p:spPr>
        <p:txBody>
          <a:bodyPr wrap="square" lIns="0" tIns="0" rIns="0" bIns="0">
            <a:spAutoFit/>
          </a:bodyPr>
          <a:lstStyle/>
          <a:p>
            <a:pPr>
              <a:defRPr sz="1000" b="1">
                <a:solidFill>
                  <a:srgbClr val="2563EB"/>
                </a:solidFill>
              </a:defRPr>
            </a:pPr>
            <a:r>
              <a:t>ACADEMIC REVIEW 2 | DWDM</a:t>
            </a:r>
          </a:p>
        </p:txBody>
      </p:sp>
      <p:sp>
        <p:nvSpPr>
          <p:cNvPr id="4" name="TextBox 3"/>
          <p:cNvSpPr txBox="1"/>
          <p:nvPr/>
        </p:nvSpPr>
        <p:spPr>
          <a:xfrm>
            <a:off x="731520" y="530352"/>
            <a:ext cx="10698480" cy="548640"/>
          </a:xfrm>
          <a:prstGeom prst="rect">
            <a:avLst/>
          </a:prstGeom>
          <a:noFill/>
        </p:spPr>
        <p:txBody>
          <a:bodyPr wrap="square" lIns="0" tIns="0" rIns="0" bIns="0">
            <a:spAutoFit/>
          </a:bodyPr>
          <a:lstStyle/>
          <a:p>
            <a:pPr>
              <a:defRPr sz="2200" b="1">
                <a:solidFill>
                  <a:srgbClr val="0F172A"/>
                </a:solidFill>
              </a:defRPr>
            </a:pPr>
            <a:r>
              <a:t>Summary of Review 2 &amp; Roadmap to Final Review 3</a:t>
            </a:r>
          </a:p>
        </p:txBody>
      </p:sp>
      <p:sp>
        <p:nvSpPr>
          <p:cNvPr id="5" name="Rounded Rectangle 4"/>
          <p:cNvSpPr/>
          <p:nvPr/>
        </p:nvSpPr>
        <p:spPr>
          <a:xfrm>
            <a:off x="731520" y="1280160"/>
            <a:ext cx="521208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4846320" cy="4572000"/>
          </a:xfrm>
          <a:prstGeom prst="rect">
            <a:avLst/>
          </a:prstGeom>
          <a:noFill/>
        </p:spPr>
        <p:txBody>
          <a:bodyPr wrap="square">
            <a:spAutoFit/>
          </a:bodyPr>
          <a:lstStyle/>
          <a:p>
            <a:pPr>
              <a:spcAft>
                <a:spcPts val="1400"/>
              </a:spcAft>
              <a:defRPr sz="1600" b="1">
                <a:solidFill>
                  <a:srgbClr val="0F172A"/>
                </a:solidFill>
              </a:defRPr>
            </a:pPr>
            <a:r>
              <a:t>Review 2 Deliverables Accomplished</a:t>
            </a:r>
          </a:p>
          <a:p>
            <a:pPr>
              <a:spcAft>
                <a:spcPts val="1000"/>
              </a:spcAft>
              <a:defRPr sz="1100">
                <a:solidFill>
                  <a:srgbClr val="334155"/>
                </a:solidFill>
              </a:defRPr>
            </a:pPr>
            <a:r>
              <a:t>✓ Classification: Benchmarked 4 models; Gradient Boosting achieved champion status (F1 = 0.8965, ROC-AUC = 0.9973).</a:t>
            </a:r>
          </a:p>
          <a:p>
            <a:pPr>
              <a:spcAft>
                <a:spcPts val="1000"/>
              </a:spcAft>
              <a:defRPr sz="1100">
                <a:solidFill>
                  <a:srgbClr val="334155"/>
                </a:solidFill>
              </a:defRPr>
            </a:pPr>
            <a:r>
              <a:t>✓ Clustering: K-Means identified 3 borrower profiles (Prime: 3.93% default vs Subprime: 20.36% default).</a:t>
            </a:r>
          </a:p>
          <a:p>
            <a:pPr>
              <a:spcAft>
                <a:spcPts val="1000"/>
              </a:spcAft>
              <a:defRPr sz="1100">
                <a:solidFill>
                  <a:srgbClr val="334155"/>
                </a:solidFill>
              </a:defRPr>
            </a:pPr>
            <a:r>
              <a:t>✓ Association Rules: Apriori algorithm extracted high-conviction risk rules with Lift up to 5.69x.</a:t>
            </a:r>
          </a:p>
          <a:p>
            <a:pPr>
              <a:spcAft>
                <a:spcPts val="1000"/>
              </a:spcAft>
              <a:defRPr sz="1100">
                <a:solidFill>
                  <a:srgbClr val="334155"/>
                </a:solidFill>
              </a:defRPr>
            </a:pPr>
            <a:r>
              <a:t>✓ Prediction Engine: Operational continuous risk scorer with 0.0168 Brier score calibration.</a:t>
            </a:r>
          </a:p>
          <a:p>
            <a:pPr>
              <a:spcAft>
                <a:spcPts val="1000"/>
              </a:spcAft>
              <a:defRPr sz="1100">
                <a:solidFill>
                  <a:srgbClr val="334155"/>
                </a:solidFill>
              </a:defRPr>
            </a:pPr>
            <a:r>
              <a:t>✓ Codebase &amp; Git: Fully verified, UTF-8 compliant, and pushed to GitHub main branch.</a:t>
            </a:r>
          </a:p>
        </p:txBody>
      </p:sp>
      <p:sp>
        <p:nvSpPr>
          <p:cNvPr id="7" name="Rounded Rectangle 6"/>
          <p:cNvSpPr/>
          <p:nvPr/>
        </p:nvSpPr>
        <p:spPr>
          <a:xfrm>
            <a:off x="6217920" y="1280160"/>
            <a:ext cx="5242255"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463040"/>
            <a:ext cx="4846320" cy="4572000"/>
          </a:xfrm>
          <a:prstGeom prst="rect">
            <a:avLst/>
          </a:prstGeom>
          <a:noFill/>
        </p:spPr>
        <p:txBody>
          <a:bodyPr wrap="square">
            <a:spAutoFit/>
          </a:bodyPr>
          <a:lstStyle/>
          <a:p>
            <a:pPr>
              <a:spcAft>
                <a:spcPts val="1400"/>
              </a:spcAft>
              <a:defRPr sz="1600" b="1">
                <a:solidFill>
                  <a:srgbClr val="0F172A"/>
                </a:solidFill>
              </a:defRPr>
            </a:pPr>
            <a:r>
              <a:t>Roadmap to Final Review 3</a:t>
            </a:r>
          </a:p>
          <a:p>
            <a:pPr>
              <a:spcAft>
                <a:spcPts val="1000"/>
              </a:spcAft>
              <a:defRPr sz="1100">
                <a:solidFill>
                  <a:srgbClr val="334155"/>
                </a:solidFill>
              </a:defRPr>
            </a:pPr>
            <a:r>
              <a:t>➔ Interactive Web Application: Full React 19 + Vite dashboard featuring 7 visual analytical modules.</a:t>
            </a:r>
          </a:p>
          <a:p>
            <a:pPr>
              <a:spcAft>
                <a:spcPts val="1000"/>
              </a:spcAft>
              <a:defRPr sz="1100">
                <a:solidFill>
                  <a:srgbClr val="334155"/>
                </a:solidFill>
              </a:defRPr>
            </a:pPr>
            <a:r>
              <a:t>➔ Real-Time Loan Simulator: Interactive form for underwriters to test any applicant profile live.</a:t>
            </a:r>
          </a:p>
          <a:p>
            <a:pPr>
              <a:spcAft>
                <a:spcPts val="1000"/>
              </a:spcAft>
              <a:defRPr sz="1100">
                <a:solidFill>
                  <a:srgbClr val="334155"/>
                </a:solidFill>
              </a:defRPr>
            </a:pPr>
            <a:r>
              <a:t>➔ Streamlit Python Dashboard: Complete secondary dashboard runner with live parameter tuning.</a:t>
            </a:r>
          </a:p>
          <a:p>
            <a:pPr>
              <a:spcAft>
                <a:spcPts val="1000"/>
              </a:spcAft>
              <a:defRPr sz="1100">
                <a:solidFill>
                  <a:srgbClr val="334155"/>
                </a:solidFill>
              </a:defRPr>
            </a:pPr>
            <a:r>
              <a:t>➔ End-to-End Pipeline Demo: Complete walkthrough from Star Schema Data Warehouse to real-time ML risk scoring.</a:t>
            </a:r>
          </a:p>
          <a:p>
            <a:pPr>
              <a:spcAft>
                <a:spcPts val="1000"/>
              </a:spcAft>
              <a:defRPr sz="1100">
                <a:solidFill>
                  <a:srgbClr val="334155"/>
                </a:solidFill>
              </a:defRPr>
            </a:pPr>
            <a:r>
              <a:t>➔ Production Deployment: Final build passed and ready for institutional hosting.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