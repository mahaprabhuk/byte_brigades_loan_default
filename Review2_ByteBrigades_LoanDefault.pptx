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COURSE: DATA WAREHOUSING AND DATA MINING  |  COURSE CODE: CSI3010</a:t>
            </a:r>
          </a:p>
          <a:p>
            <a:pPr>
              <a:spcAft>
                <a:spcPts val="1200"/>
              </a:spcAft>
              <a:defRPr sz="3400" b="1">
                <a:solidFill>
                  <a:srgbClr val="FFFFFF"/>
                </a:solidFill>
                <a:latin typeface="Segoe UI"/>
              </a:defRPr>
            </a:pPr>
            <a:r>
              <a:t>Loan Default Risk Prediction &amp;</a:t>
            </a:r>
            <a:br/>
            <a:r>
              <a:t>Borrower Profiling System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Academic Review - 2: Classification  •  Clustering  •  Association Rules  •  Prediction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931920"/>
            <a:ext cx="493776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06908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TEAM: BYTE BRIGADES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Mahaprabhu K  (24MID0109)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Pavithran O  (24MID0144)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0292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40690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PROJECT METADATA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Review Phase: Review - 2 (Data Mining &amp; Predictive Analytics)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Date of Presentation: 16/10/26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Dataset Parameters: 50,000 Records, 18 Features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Target Variable: Default (Binary 0 = No Default, 1 = Default)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Dataset Characteristics &amp; Review-2 Pipeline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1. Classification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Default vs. No-Default</a:t>
            </a:r>
            <a:br/>
            <a:r>
              <a:t>4 ML models benchmarked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2. Clustering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Borrower Segmentation</a:t>
            </a:r>
            <a:br/>
            <a:r>
              <a:t>Optimal K=3 risk archetypes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3. Association Rules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Apriori Co-occurrence</a:t>
            </a:r>
            <a:br/>
            <a:r>
              <a:t>Multi-feature risk rules (Lift &gt; 5x)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9333EA"/>
                </a:solidFill>
                <a:latin typeface="Segoe UI"/>
              </a:defRPr>
            </a:pPr>
            <a:r>
              <a:t>4. Prediction Engine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Continuous P(Default=1)</a:t>
            </a:r>
            <a:br/>
            <a:r>
              <a:t>Calibrated scoring &amp; risk tiers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Dataset Profile &amp; Stratification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Total Records: 50,000 credit records with 18 attributes.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Train / Test Split: 80% Train (40,000) / 20% Holdout Test (10,000).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Sampling Method: Stratified split preserving class balance.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Data Leakage: Zero leakage (scalers fit strictly on training set).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60320"/>
            <a:ext cx="5242255" cy="3840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E123C"/>
                </a:solidFill>
                <a:latin typeface="Segoe UI"/>
              </a:defRPr>
            </a:pPr>
            <a:r>
              <a:t>Class Imbalance: The 'Accuracy Trap'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Class Distribution: 88.3% Non-Defaulters vs. 11.7% Defaulters.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The 'Accuracy Paradox': Predicting 0 for all loans yields 88.3% accuracy but 0% risk detection.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Financial Impact: False Negatives cause severe institutional bad-debt losses.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Metric Priority: Optimization strictly focused on Recall, F1-Score, and ROC-AUC.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TOPIC OVERVIEW &amp; INSTITUTIONAL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Overview: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Heading: Classification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What it is: </a:t>
            </a:r>
            <a:r>
              <a:rPr sz="1200" b="0">
                <a:solidFill>
                  <a:srgbClr val="334155"/>
                </a:solidFill>
                <a:latin typeface="Segoe UI"/>
              </a:rPr>
              <a:t>Supervised machine learning method that categorizes borrower applications into binary outcomes (0: No Default, 1: Default).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Why it is needed: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Flags high-risk applicants before credit disbursement to prevent non-performing assets (NPAs) and bad-debt write-offs.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Where it is used: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Deployed in the initial automated credit underwriting pipeline to evaluate all incoming applicant profiles.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How it is helpful: </a:t>
            </a:r>
            <a:r>
              <a:rPr sz="1200" b="0">
                <a:solidFill>
                  <a:srgbClr val="334155"/>
                </a:solidFill>
                <a:latin typeface="Segoe UI"/>
              </a:rPr>
              <a:t>Provides fast, objective risk screening with 97.75% accuracy and an optimal 0.8965 F1-Score.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1800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Project Implementation: classification/train_classifiers.py  |  Champion Result: Champion: Gradient Boosting (Accuracy: 97.75% | F1: 0.8965 | ROC-AUC: 0.9973)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Execution verified against Kaggle benchmark dataset (50,000 records, 18 financial features) with zero data leakage.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Algorithm Implementation &amp; Benchmark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3891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train_classifiers.py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0233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classification/train_classifiers.py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sklearn.ensemble import GradientBoostingClassifier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sklearn.metrics import f1_score, roc_auc_score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models = {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'Logistic Regression': LogisticRegression(class_weight='balanced'),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'Decision Tree': DecisionTreeClassifier(max_depth=8),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'Random Forest': RandomForestClassifier(n_estimators=100),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'Gradient Boosting': GradientBoostingClassifier(max_depth=5, lr=0.1)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for name, model in models.items():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model.fit(X_train, y_train)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y_prob = model.predict_proba(X_test)[:, 1]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f1 = f1_score(y_test, model.predict(X_test))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auc = roc_auc_score(y_test, y_prob)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joblib.dump(best_model, 'best_classifier.joblib')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18872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40680" y="1325880"/>
          <a:ext cx="58823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333"/>
                <a:gridCol w="840333"/>
                <a:gridCol w="840333"/>
                <a:gridCol w="840333"/>
                <a:gridCol w="840333"/>
                <a:gridCol w="840333"/>
                <a:gridCol w="840337"/>
              </a:tblGrid>
              <a:tr h="71323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Log Loss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91.07%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57.19%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94.10%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0.7115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0.1885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89.26%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52.40%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89.49%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0.6610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0.9342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0.4943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95.79%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76.13%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0.8383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0.1832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97.75%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97.11%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latin typeface="Segoe UI"/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0.8965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0.9973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latin typeface="Segoe UI"/>
                        </a:defRPr>
                      </a:pPr>
                      <a:r>
                        <a:t>0.0622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0" y="5257800"/>
            <a:ext cx="6156655" cy="11430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21808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★ Champion Architecture: Gradient Boosting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Accuracy: 97.75%  |  Precision: 97.11%  |  F1-Score: 0.8965  |  ROC-AUC: 0.9973</a:t>
            </a:r>
            <a:br/>
            <a:r>
              <a:t>• Lowest Log Loss (0.0622) minimizes severe financial misclassification penalties.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Multi-Algorithm Visual Benchmark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dels_benchmar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62895" cy="51321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Comparative Visual Insights Across 4 Models: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Gradient Boosting achieves top scores across Accuracy (97.75%), Precision (97.11%), F1 (0.8965), and ROC-AUC (0.9973).</a:t>
            </a:r>
            <a:br/>
            <a:r>
              <a:t>• Logistic Regression baseline provides high recall (94.10%) but low precision (57.19%), causing too many false alarms.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Logistic Regression Sigmoid &amp; Log-Odds Weights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istic_regressi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61872"/>
            <a:ext cx="10454335" cy="41817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Logistic Regression Model Architecture &amp; Coefficient Insights: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Sigmoid Probability Mapping: Linear combination z is converted into continuous default probabilities P(Default=1) with a 0.5 decision cutoff.</a:t>
            </a:r>
            <a:br/>
            <a:r>
              <a:t>• Log-Odds Weights: Unemployment (+3.55) and high loan amounts (+2.19) sharply escalate risk; high income (-2.96) provides the strongest credit protection.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Decision Tree Hierarchical Split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ision_tre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61872"/>
            <a:ext cx="10454335" cy="449045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Decision Tree Interpretability &amp; Structural Risk Rules: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Root Node Split (Income): The tree identifies Income as the primary discriminator separating high-risk from low-risk borrowers.</a:t>
            </a:r>
            <a:br/>
            <a:r>
              <a:t>• Multi-Level Partitions: Downstream splits on Loan Amount, Credit Score, and DTI Ratio provide white-box, human-auditable credit decisions.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Random Forest Ensemble Architecture &amp; Importance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ndom_fores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61872"/>
            <a:ext cx="10454335" cy="41817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Random Forest Bagging Aggregation &amp; Gini Importances: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Bootstrap Aggregation (Bagging): Averages predictions across 100 decorrelated trees, elevating accuracy to 95.79% and dampening individual tree variance.</a:t>
            </a:r>
            <a:br/>
            <a:r>
              <a:t>• Gini Feature Impurity: Income (32.3%), Loan Amount (17.6%), and Credit Score (17.3%) dominate splits, confirming strong economic fundamentals.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Gradient Boosting Staged Loss &amp; Champion Drivers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dient_boosting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61872"/>
            <a:ext cx="10454335" cy="41817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Champion Gradient Boosting Optimization Dynamics: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Sequential Error Minimization: 100 boosting stages progressively minimize pseudo-residuals, reducing holdout log loss from 0.32 down to 0.0622.</a:t>
            </a:r>
            <a:br/>
            <a:r>
              <a:t>• Core Predictive Pillars: Income (30.2%) and Loan Amount (24.9%) provide superior discriminatory power with zero evidence of test set overfitting.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Pictorial Diagnostics (Confusion Matrices &amp; ROC)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029200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188720"/>
            <a:ext cx="52422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029200" cy="37719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Key Diagnostic Observations: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Confusion Matrix: Gradient Boosting eliminates false alarms (only 2.89% false positive rate), preventing healthy customer turnaways.</a:t>
            </a:r>
            <a:br/>
            <a:r>
              <a:t>• ROC Curves: Gradient Boosting hugs the upper-left boundary (AUC = 0.9973), outperforming Decision Tree (0.934) and Logistic Reg (0.982).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TOPIC OVERVIEW &amp; INSTITUTIONAL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Overview: Clustering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Heading: Clustering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What it is: </a:t>
            </a:r>
            <a:r>
              <a:rPr sz="1200" b="0">
                <a:solidFill>
                  <a:srgbClr val="334155"/>
                </a:solidFill>
                <a:latin typeface="Segoe UI"/>
              </a:rPr>
              <a:t>Unsupervised machine learning method that segments borrowers into natural risk cohorts without relying on past default labels.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Why it is needed: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Captures diverse borrower archetypes across multiple financial indicators (Income, Credit Score, DTI, Employment Tenure).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Where it is used: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Applied in credit portfolio segmentation, regulatory capital reserve allocations, and customer risk profiling.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How it is helpful: </a:t>
            </a:r>
            <a:r>
              <a:rPr sz="1200" b="0">
                <a:solidFill>
                  <a:srgbClr val="334155"/>
                </a:solidFill>
                <a:latin typeface="Segoe UI"/>
              </a:rPr>
              <a:t>Enables tailored interest rate pricing, tiered credit limits, and targeted early-intervention counseling for vulnerable borrowers.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1800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Project Implementation: clustering/train_clustering.py  |  Champion Result: Optimal K=3 (Prime: 3.93% default, Standard: 12.38%, Subprime: 20.36%)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Execution verified against Kaggle benchmark dataset (50,000 records, 18 financial features) with zero data leakage.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Borrower Clustering: K-Means Code &amp; Optimal K Determination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3891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train_clustering.py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0233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clustering/train_clustering.py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sklearn.cluster import KMeans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sklearn.metrics import silhouette_score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features = ['Income', 'CreditScore', 'LoanAmount',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    'DTIRatio', 'MonthsEmployed']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X_scaled = StandardScaler().fit_transform(df[features])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Evaluate K from 2 to 6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for k in range(2, 7):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  kmeans = KMeans(n_clusters=k, random_state=42)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labels = kmeans.fit_predict(X_scaled)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inertia = kmeans.inertia_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sil = silhouette_score(X_scaled, labels)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Selected optimal K=3 (Elbow Inflection)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final_kmeans = KMeans(n_clusters=3, random_state=42)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18872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5943600" cy="2228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0" y="5257800"/>
            <a:ext cx="6156655" cy="11430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21808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Optimal K=3 Selection Criteria: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Elbow Method: Inertia drops steeply from K=2 (212,115) to K=3 (189,245), flattens thereafter.</a:t>
            </a:r>
            <a:br/>
            <a:r>
              <a:t>• Silhouette Cohesion: Confirms K=3 naturally segments borrowers into Prime, Standard, and Subprime tiers.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Borrower Clustering: Visual Profile Comparison &amp; 2D PCA 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62179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uster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6035040" cy="28738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188720"/>
            <a:ext cx="43278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uste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280160"/>
            <a:ext cx="4144975" cy="310873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Key Segment Takeaways (K=3 Tiers):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Prime Tier (Cluster 2): High credit (741.8) -&gt; 3.93% default rate | Standard Tier (Cluster 1): Long employment (91.5 mos) -&gt; 12.38% default.</a:t>
            </a:r>
            <a:br/>
            <a:r>
              <a:t>• Subprime Tier (Cluster 0): Short employment (27.0 mos) -&gt; 20.36% default rate (5.2x higher than Prime). 2D PCA validates clear geometric separation.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Borrower Clustering: Multi-Algorithm Benchmark (2D PCA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ustering_algo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234440"/>
            <a:ext cx="5505651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Clustering Paradigms &amp; Structural Risk Groupings: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Partitioning vs. Hierarchical vs. Probabilistic: K-Means (Silhouette 0.139, champion) and GMM (0.132) isolate tight, spherical risk cohorts; Agglomerative (Ward linkage, 0.084) constructs nested dendrogram merges.</a:t>
            </a:r>
            <a:br/>
            <a:r>
              <a:t>• Density-Based Anomaly Discovery: DBSCAN identifies core normal clusters while isolating extreme outliers (noise) as high-risk anomalies requiring manual underwriter fraud checks.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TOPIC OVERVIEW &amp; INSTITUTIONAL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Overview: Association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Heading: Association Rules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What it is: </a:t>
            </a:r>
            <a:r>
              <a:rPr sz="1200" b="0">
                <a:solidFill>
                  <a:srgbClr val="334155"/>
                </a:solidFill>
                <a:latin typeface="Segoe UI"/>
              </a:rPr>
              <a:t>Data mining rule-discovery technique (Apriori) extracting non-trivial IF-THEN relationships between co-occurring loan features.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Why it is needed: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Uncovers multi-attribute risk combinations (e.g. low income + poor credit + high DTI) that linear scorecards fail to detect.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Where it is used: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Integrated into automated credit policy rule engines, underwriter red-flag checklists, and policy threshold triggers.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How it is helpful: </a:t>
            </a:r>
            <a:r>
              <a:rPr sz="1200" b="0">
                <a:solidFill>
                  <a:srgbClr val="334155"/>
                </a:solidFill>
                <a:latin typeface="Segoe UI"/>
              </a:rPr>
              <a:t>Pinpoints toxic feature combinations multiplying default risk up to 5.69x over baseline and isolates the risk-reducing impact of co-signers.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1800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Project Implementation: association_rules/mine_rules.py  |  Champion Result: Top Rule Lift = 5.69x (Confidence: 66.93% | Support: 3.94%)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Execution verified against Kaggle benchmark dataset (50,000 records, 18 financial features) with zero data leakage.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Association Rules: Discretization &amp; Apriori Algorithm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3035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mine_rules.py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9377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association_rules/mine_rules.py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mlxtend.frequent_patterns import apriori, association_rules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Continuous Discretization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df_disc['Income'] = pd.qcut(df['Income'], q=3, labels=['Low','Med','High'])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df_disc['CreditScore'] = pd.cut(df['CreditScore'], bins=[0,580,670,740,850])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df_disc['DTIRatio'] = pd.cut(df['DTIRatio'], bins=[0.0, 0.30, 0.50, 1.0])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df_encoded = pd.get_dummies(df_disc, prefix='', prefix_sep='')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Apriori Frequent Itemset Mining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itemsets = apriori(df_encoded, min_support=0.03, use_colnames=True)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rules = association_rules(itemsets, metric='confidence', min_threshold=0.30)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Filter for Default=Yes sorted by Lift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default_rules = rules[rules['consequents_str'].str.contains('Default=Yes')]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top_rules = default_rules.sort_values(by='lift', ascending=False)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24225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Mathematical Metrics &amp; Mining Rules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Support(A -&gt; B): P(A and B) - Frequency of co-occurrence in dataset (threshold = 3%).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Confidence(A -&gt; B): P(B | A) - Probability of Default given borrower conditions (threshold = 30%).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Lift(A -&gt; B): Confidence / P(B) - Multiplier over baseline default rate (11.7%).</a:t>
            </a:r>
            <a:br/>
            <a:r>
              <a:t>• Lift &gt; 1: Strong positive risk indicator</a:t>
            </a:r>
            <a:br/>
            <a:r>
              <a:t>• Lift = 5.69: 5.7x more likely to default than random.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Consequent Target: Explicitly targeted for Default=Yes to isolate toxic risk rules.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Association Rules: Pictorial Lift Chart &amp; Top Risk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9436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ules_lif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760720" cy="2743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188720"/>
            <a:ext cx="460217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325880"/>
            <a:ext cx="4297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Top Mined Rules (Ranked by Lift)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1 (Lift = 5.69x | Conf = 66.93%):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CreditScore=Poor, LoanAmount=Large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2 (Lift = 5.16x | Conf = 60.64%):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DTIRatio=High, LoanAmount=Large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3 (Lift = 4.64x | Conf = 54.49%):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CreditScore=Poor, Income=Low, CoSigner=No, DTIRatio=High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4 (Lift = 4.46x | Conf = 52.46%):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CoSigner=No, LoanAmount=Large -&gt; Default=Yes</a:t>
            </a:r>
          </a:p>
          <a:p>
            <a:pPr>
              <a:defRPr sz="1000" b="1">
                <a:solidFill>
                  <a:srgbClr val="BE123C"/>
                </a:solidFill>
                <a:latin typeface="Segoe UI"/>
              </a:defRPr>
            </a:pPr>
            <a:r>
              <a:t>• Key Finding: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Subprime credit combined with large loan size and absence of a co-signer multiplies default risk by 4.6x to 5.7x over baseline.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Association Rules: Multi-Algorithm Benchmark &amp; Rule Quality 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ssociation_algo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61872"/>
            <a:ext cx="10362895" cy="414515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Association Mining Algorithm Efficiency &amp; Rule Space Dynamics: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Mining Algorithmic Performance: FP-Growth (prefix-tree compression with zero candidate generation) executes in 0.18s at 2% support, outperforming ECLAT (0.45x Apriori runtime) and standard Apriori (0.72s).</a:t>
            </a:r>
            <a:br/>
            <a:r>
              <a:t>• Multi-Metric Rule Quality: Rules clustering in high-confidence (&gt;50%) and high-lift (&gt;4.5x) space isolate toxic multi-attribute credit combinations (Low Income + Large Loan + No Co-Signer).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TOPIC OVERVIEW &amp; INSTITUTIONAL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Overview: Prediction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018001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  <a:latin typeface="Segoe UI"/>
              </a:defRPr>
            </a:pPr>
            <a:r>
              <a:t>Heading: Prediction Engine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What it is: </a:t>
            </a:r>
            <a:r>
              <a:rPr sz="1200" b="0">
                <a:solidFill>
                  <a:srgbClr val="334155"/>
                </a:solidFill>
                <a:latin typeface="Segoe UI"/>
              </a:rPr>
              <a:t>Probabilistic inference engine computing continuous probability scores P(Default=1) in range [0.0, 1.0] for any applicant payload.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Why it is needed: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Real-world credit underwriting requires granular probability scores rather than rigid 0/1 binary labels for dynamic risk pricing.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Where it is used: </a:t>
            </a:r>
            <a:r>
              <a:rPr sz="1200" b="0">
                <a:solidFill>
                  <a:srgbClr val="334155"/>
                </a:solidFill>
                <a:latin typeface="Segoe UI"/>
              </a:rPr>
              <a:t>Integrated into automated loan pricing engines, regulatory capital calculations, and live applicant simulator forms.</a:t>
            </a:r>
          </a:p>
          <a:p>
            <a:pPr>
              <a:spcAft>
                <a:spcPts val="1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• How it is helpful: </a:t>
            </a:r>
            <a:r>
              <a:rPr sz="1200" b="0">
                <a:solidFill>
                  <a:srgbClr val="334155"/>
                </a:solidFill>
                <a:latin typeface="Segoe UI"/>
              </a:rPr>
              <a:t>Maps applicants into 4 distinct policy tiers (Low, Moderate, High, Critical Risk) with an exceptional 0.0168 Brier calibration score.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1800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Project Implementation: prediction/predictor.py  |  Champion Result: Brier Score: 0.0168 (Log Loss: 0.0622 | Test ROC-AUC: 0.9973)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Execution verified against Kaggle benchmark dataset (50,000 records, 18 financial features) with zero data leakage.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Prediction Engine: Continuous Scoring Code &amp; Policy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75488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predictor.py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38912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prediction/predictor.py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class LoanDefaultPredictor: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def predict_borrower_risk(self, borrower_data):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Preprocessing transform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df_input = pd.DataFrame([borrower_data])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X_trans = self.preprocessor.transform(df_input)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Continuous probability P(Default=1)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prob = float(self.model.predict_proba(X_trans)[0, 1])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4-Tier Risk Categorization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if prob &lt; 0.20:   tier = 'Low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elif prob &lt; 0.45: tier = 'Moderate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elif prob &lt; 0.70: tier = 'High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else:             tier = 'Critical Risk'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return {'prob': prob, 'tier': tier, 'factors': warnings}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188720"/>
            <a:ext cx="5790895" cy="1554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2801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Probability Calibration Metrics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Brier Score: 0.0168 (near zero indicates exceptional probability calibration quality)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Test Set ROC-AUC: 0.9973  |  Model Log Loss: 0.0622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Sample Prime Scoring: Credit 810, DTI 0.15 -&gt; P(Default) = 0.02% (Low Risk Badge)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Sample Subprime Scoring: Credit 420, DTI 0.82 -&gt; P(Default) = 99.99% (Critical Risk Badge)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926080"/>
            <a:ext cx="579089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3017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4-Tier Underwriting Decision Matrix</a:t>
            </a:r>
          </a:p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Low Risk (P &lt; 20%):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Fast-track instant approval; Prime interest rate (4.5% - 7.5% APR).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Moderate Risk (20% &lt;= P &lt; 45%):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Standard underwriting review; income verification required.</a:t>
            </a:r>
          </a:p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High Risk (45% &lt;= P &lt; 70%):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Conditional approval; mandatory co-signer and collateral required.</a:t>
            </a:r>
          </a:p>
          <a:p>
            <a:pPr>
              <a:defRPr sz="1100" b="1">
                <a:solidFill>
                  <a:srgbClr val="E11D48"/>
                </a:solidFill>
                <a:latin typeface="Segoe UI"/>
              </a:defRPr>
            </a:pPr>
            <a:r>
              <a:t>Critical Risk (P &gt;= 70%):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Automated decline; risk exceeds institutional lending tolerance.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Prediction Engine: Pictorial Policy Matrix &amp; Inference Visual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diction_risk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10362895" cy="4934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Inference &amp; Policy Visual Insights: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Policy Matrix: Clear operational division between Prime fast-track approvals (&lt;20%) and automatic rejections (&gt;=70%).</a:t>
            </a:r>
            <a:br/>
            <a:r>
              <a:t>• Calibration Reliability: Brier Score of 0.0168 confirms continuous probabilities accurately mirror real-world default frequencies.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Prediction Engine: Multi-Model Probability Calibration &amp; Brier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286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diction_algo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61872"/>
            <a:ext cx="10362895" cy="414515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Continuous Probability Calibration &amp; Scoring Engine Loss: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Reliability Diagrams (Calibration Curves): Champion Gradient Boosting closely adheres to the ideal 45° calibration diagonal across all deciles, preventing overconfident mispredictions.</a:t>
            </a:r>
            <a:br/>
            <a:r>
              <a:t>• Brier Score Loss Benchmark: Gradient Boosting achieves lowest Brier error (0.0168) alongside MLP Neural Network (0.0047), substantially outperforming Random Forest (0.0461) and Logistic Regression (0.0615).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Summary of Review 2 &amp; Roadmap to Final Review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Review 2 Deliverables Accomplished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Classification: Benchmarked 4 classifiers (LR, DT, RF, GB champion: F1 0.8965, ROC-AUC 0.9973) with individual architectural diagrams for all 4.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Clustering: Evaluated 4 paradigms (K-Means 0.139 silhouette champion, Agglomerative 0.084, GMM 0.132, DBSCAN density noise isolation).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Association Rules: Benchmarked mining algorithms (FP-Growth 0.18s vs ECLAT vs Apriori 0.72s) and 3D rule quality space (Lift up to 5.69x).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Prediction Engine: Calibrated continuous scoring with Brier loss comparison across Gradient Boosting (0.0168), MLP (0.0047), RF (0.0461), and LR (0.0615).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Git Repository: All code, trained models, visual artifacts, and web applications version-controlled on GitHub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4225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Roadmap to Final Review 3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Interactive Web Application: Full React 19 + Vite dashboard featuring 7 visual analytical tabs.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Real-Time Loan Simulator: Live applicant scoring form with dynamic probability and risk factor alerts.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Secondary Python Dashboard: Interactive Streamlit platform for parameter exploration.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End-to-End Demonstration: Integration from Star Schema Data Warehouse (Review 1) through ML Underwriting (Review 2).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Institutional Deployment: Production build compiled with zero errors, ready for cloud hosting.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